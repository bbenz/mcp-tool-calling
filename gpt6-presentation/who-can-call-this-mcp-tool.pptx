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00:00-00:25; segment hard stop 02:00. Next: slide 2.</a:t>
            </a:r>
          </a:p>
          <a:p>
            <a:r>
              <a:t>Someone builds an MCP server with a refund_order tool. It works. Then someone asks: who can call it?</a:t>
            </a:r>
          </a:p>
          <a:p>
            <a:r>
              <a:t>This is a synthetic refund ledger, not a payment provider. Today's question is whether this user, through this client, may act on this order with these arguments, right now.</a:t>
            </a:r>
          </a:p>
          <a:p>
            <a:r>
              <a:t>The coding agent generating these slides uses GPT-6 Astra; it is not the Foundry backend described in the demo.</a:t>
            </a:r>
          </a:p>
          <a:p>
            <a:r>
              <a:t>The talk is 25 minutes INCLUDING 23:00-25:00 Q&amp;A. Generation time is a separate activity.</a:t>
            </a:r>
          </a:p>
          <a:p>
            <a:r>
              <a:t>Source: Events/MCP-Dev-Summit-Toronto-2026-Approved-Proposals.md, accepted proposal; docs/ONSTAGE-SCRIPT.md 00:00-02:00; docs/RUNBOOK.md Segment 1.</a:t>
            </a:r>
          </a:p>
          <a:p>
            <a:r>
              <a:t>Event logistics reconfirmed on the public schedule during generation: October 6, 2026, 15:40-16:05 EDT (UTC-4), Ballroom East/Center. Timing and room remain subject to change. Toronto is the first delivery, not a past performance.</a:t>
            </a:r>
          </a:p>
          <a:p>
            <a:r>
              <a:t>Evidence: ILLUSTRATIVE native refund card, not a screenshot or an execution record. Fallback: use the PDF, page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00:25-01:05; segment hard stop 02:00. Next: slide 3.</a:t>
            </a:r>
          </a:p>
          <a:p>
            <a:r>
              <a:t>The user signed in. There is an approval dialog. The server is internal. Those are real things, but none is the object authorization decision.</a:t>
            </a:r>
          </a:p>
          <a:p>
            <a:r>
              <a:t>Authentication, approval, and authorization are three different questions. The authorization server supports trusted identity and token issuance; the client owns approval; the MCP server must decide whether this action on this object is allowed now.</a:t>
            </a:r>
          </a:p>
          <a:p>
            <a:r>
              <a:t>A team may own the authorization server AND the upstream API. The ownership point is responsibility, not an assertion that every other component belongs to somebody else.</a:t>
            </a:r>
          </a:p>
          <a:p>
            <a:r>
              <a:t>Human approval cannot replace server authorization. Nobody answers the object/tool question unless the service implements it.</a:t>
            </a:r>
          </a:p>
          <a:p>
            <a:r>
              <a:t>Source: docs/ONSTAGE-SCRIPT.md opening; docs/CONTROL-MAP.md Layers 1-4; accepted proposal.</a:t>
            </a:r>
          </a:p>
          <a:p>
            <a:r>
              <a:t>Evidence: ILLUSTRATIVE responsibility map. Fallback: PDF page 2. Do not claim a client dialog was observed during slide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01:05-02:00; hard stop 02:00. Next window: Terminal A in demo; leave the deck here until the closing synthesis.</a:t>
            </a:r>
          </a:p>
          <a:p>
            <a:r>
              <a:t>The MCP client can have its own model. The Foundry assessment model is a DIFFERENT actor, reached through assess_refund. The scenario runner is an operator/reporting surface, not either model and not the policy engine.</a:t>
            </a:r>
          </a:p>
          <a:p>
            <a:r>
              <a:t>OAuth links the client to the authorization server. Protected Resource Metadata and AS metadata lead to PKCE S256 and resource indicators. The AS issues a token, not an order-level permission.</a:t>
            </a:r>
          </a:p>
          <a:p>
            <a:r>
              <a:t>The client sends tools/call to Resource A. A validates the token and evaluates deterministic policy. On an allowed refund, A exchanges for a new token to the upstream API; the upstream independently rechecks and mutates the ledger. No arrow from model output grants authority or writes to the ledger.</a:t>
            </a:r>
          </a:p>
          <a:p>
            <a:r>
              <a:t>The Foundry branch is dashed and explicitly advisory. A separate platform content filter can act in the inference service; it is neither MCP authorization nor a model-generated refusal.</a:t>
            </a:r>
          </a:p>
          <a:p>
            <a:r>
              <a:t>Every scenario captures before/after ledger fingerprints; most denial scenarios assert equality. Read the actual before/after evidence rather than treating every PASS badge as an equality assertion.</a:t>
            </a:r>
          </a:p>
          <a:p>
            <a:r>
              <a:t>This is a simplified editable schematic, not a captured execution trace. It omits return arrows and puts the detailed B-resource comparison and delegated audiences in backups 9 and 11.</a:t>
            </a:r>
          </a:p>
          <a:p>
            <a:r>
              <a:t>Source: docs/CONTROL-MAP.md diagram (corrected ownership/filter semantics); demo/src/refund_demo/mcp_server/app.py::_authorize, assess_refund, refund_order; delegation.py; upstream_api/app.py.</a:t>
            </a:r>
          </a:p>
          <a:p>
            <a:r>
              <a:t>Fallback: PDF page 3. If all terminals are unavailable, narrate backup slides 7-15 with EXPECTED / ILLUSTRATIVE labels, using the original segment budgets.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Approximately 21:00-21:50, AFTER the 20:00-21:00 audit walkthrough. Segment hard stop 23:00. Next: slide 5.</a:t>
            </a:r>
          </a:p>
          <a:p>
            <a:r>
              <a:t>Five responsibilities, not five substitutes for the same control. The client can stop a call the human cancels, but its UI is not server permission. The AS authenticates and issues an audience-bound token; it does not know the current business state of this order.</a:t>
            </a:r>
          </a:p>
          <a:p>
            <a:r>
              <a:t>The MCP server owns the tool/object decision at tools/call. The upstream service must recheck before mutation. A team may operate both services and the AS; the responsibilities remain separate.</a:t>
            </a:r>
          </a:p>
          <a:p>
            <a:r>
              <a:t>The model provides advice and cannot widen permission. Platform content filtering is an additional, separate outcome; it is not the object authorization boundary.</a:t>
            </a:r>
          </a:p>
          <a:p>
            <a:r>
              <a:t>Only the principal your server decided may call it, on the object it decided they may touch, at the moment they asked.</a:t>
            </a:r>
          </a:p>
          <a:p>
            <a:r>
              <a:t>Source: docs/CONTROL-MAP.md Layers 1-5b; docs/ONSTAGE-SCRIPT.md 20:00-23:00; policy.py::evaluate; upstream_api/app.py.</a:t>
            </a:r>
          </a:p>
          <a:p>
            <a:r>
              <a:t>Evidence: ILLUSTRATIVE control map following actual local audit if the presenter ran it. If using the recorded audit instead, identify docs/APPENDIX.md B (2026-09-14), not today's run. Fallback: PDF page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Approximately 21:50-22:35. Segment hard stop 23:00. Next: slide 6, which stays up through Q&amp;A.</a:t>
            </a:r>
          </a:p>
          <a:p>
            <a:r>
              <a:t>Bind every token to one resource. Scopes are verbs, not objects. Assume Approve was clicked and decide anyway.</a:t>
            </a:r>
          </a:p>
          <a:p>
            <a:r>
              <a:t>The actual scope names here are Refunds.Read and Refunds.Write, case-sensitive. Refunds.Write never named ORD-1003. Sam's token can have the verb while the order belongs to Riley.</a:t>
            </a:r>
          </a:p>
          <a:p>
            <a:r>
              <a:t>The full seven-rule checklist is: (1) bind tokens to resources and check arrival; (2) check object ownership as well as scopes; (3) approval does not replace authorization; (4) never forward the incoming token downstream: exchange it, and if the exchange fails, fail with no app-only fallback; (5) annotations are hints, not permission; (6) model output is advice on untrusted input and never widens authority; (7) audit at the decision point including denials, pseudonymize identity, and deny by default.</a:t>
            </a:r>
          </a:p>
          <a:p>
            <a:r>
              <a:t>The remaining four rules are readable on backup 17. Do not read seven paragraphs aloud now.</a:t>
            </a:r>
          </a:p>
          <a:p>
            <a:r>
              <a:t>Source: docs/CONTROL-MAP.md Take this home, with scope spelling corrected from implementation; docs/ONSTAGE-SCRIPT.md closing.</a:t>
            </a:r>
          </a:p>
          <a:p>
            <a:r>
              <a:t>Evidence: ILLUSTRATIVE synthesis. Fallback: PDF page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22:35-25:00. Finish the close by 23:00; reserve 23:00-25:00 for questions. Next window: none. Keep this control map visible; do not automatically advance into hidden slides.</a:t>
            </a:r>
          </a:p>
          <a:p>
            <a:r>
              <a:t>The repository was confirmed PUBLIC via gh repo view during generation. The displayed URL and QR both point to https://github.com/bbenz/mcp-tool-calling. The local generated deck has NOT been committed or published; the QR links to existing repository sources, not a claim that these new slides are online.</a:t>
            </a:r>
          </a:p>
          <a:p>
            <a:r>
              <a:t>If asked why scopes are insufficient: a scope names a class of actions, not an order. Sam has Refunds.Write but cannot act on Riley's ORD-1003 (R006).</a:t>
            </a:r>
          </a:p>
          <a:p>
            <a:r>
              <a:t>If asked why approval is insufficient: the UI answers human intent and can be bypassed; server policy still decides. The current manual checklist has no completed client-version evidence.</a:t>
            </a:r>
          </a:p>
          <a:p>
            <a:r>
              <a:t>If asked why not forward the token: it is for a different audience. Exchange for api://refund-upstream, preserve the human, fail closed.</a:t>
            </a:r>
          </a:p>
          <a:p>
            <a:r>
              <a:t>If asked about logs: JSONL is structured application evidence, not immutable or tamper-proof storage.</a:t>
            </a:r>
          </a:p>
          <a:p>
            <a:r>
              <a:t>If asked about production identity: devidp is a development AS. Entra mode, cluster workload identity, the separate Bicep deployment, and cloud KQL execution are not established by the recorded AKS and model rehearsals.</a:t>
            </a:r>
          </a:p>
          <a:p>
            <a:r>
              <a:t>Source: docs/RUNBOOK.md Q&amp;A (corrected fixture identities and scope names); docs/CONTROL-MAP.md; docs/COMPATIBILITY-RECORD.md; docs/DEPLOYMENT.md.</a:t>
            </a:r>
          </a:p>
          <a:p>
            <a:r>
              <a:t>Fallback: PDF page 6. Backup navigation: 7 OAuth; 8 policy; 9 delegation; 10 approval; 11 audience; 12 deputy; 13 injection; 14 model outcomes; 15 audit; 16 hosting; 17 checklist; 18 limits; 19 references. Jump by number plus Enter in PowerPoint Slide Show, then 6 plus Enter to return. Backup time is taken from the relevant existing segment, not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02:00-07:00; hard stop 07:00. Return to Terminal A; if terminals are lost, next backup 8. Never add time for this slide.</a:t>
            </a:r>
          </a:p>
          <a:p>
            <a:r>
              <a:t>PowerShell in demo: .\scripts\scenario.ps1 no-token ; .\scripts\scenario.ps1 discovery</a:t>
            </a:r>
          </a:p>
          <a:p>
            <a:r>
              <a:t>Bash twins: ./scripts/scenario.sh no-token ; ./scripts/scenario.sh discovery</a:t>
            </a:r>
          </a:p>
          <a:p>
            <a:r>
              <a:t>Browser alternative: in the already-running local UI select Run for no-token, then discovery. Expand one Sends / Expects / Why briefing if useful; keep the others collapsed.</a:t>
            </a:r>
          </a:p>
          <a:p>
            <a:r>
              <a:t>Send -&gt; expect -&gt; why -&gt; evidence: no-token sends an unauthenticated request to A; expect HTTP 401 and WWW-Authenticate naming resource_metadata. Discovery fetches Protected Resource Metadata, AS discovery, runs authorization-code flow with code_challenge_method=S256, and supplies resource=api://refund-mcp-a in BOTH authorization and token requests. Observe requested versus granted delegated scopes; Dana's scope is Refunds.Read, Sam's include Refunds.Read and Refunds.Write. Only safe names and sanitized claims belong in view: iss, aud, sub, tid, client, exp. Never display token/code/verifier values.</a:t>
            </a:r>
          </a:p>
          <a:p>
            <a:r>
              <a:t>No token issues: optional .\scripts\scenario.ps1 missing-resource-indicator and .\scripts\scenario.ps1 pkce-downgrade (bash uses the same names with ./scripts/scenario.sh). AS rejects missing resource or plain PKCE; no token is issued.</a:t>
            </a:r>
          </a:p>
          <a:p>
            <a:r>
              <a:t>Decoding is not validating: trusted issuer JWKS, allowed RSA algorithms, signature, issuer, audience, tenant where configured, lifetime, token type and delegated human identity are checked. User identity is never accepted from tool arguments.</a:t>
            </a:r>
          </a:p>
          <a:p>
            <a:r>
              <a:t>The local accepted audience identifiers are configuration-specific; api://refund-mcp-a and the configured HTTP resource URL can identify A. Do not imply that every OAuth resource uses this exact convention.</a:t>
            </a:r>
          </a:p>
          <a:p>
            <a:r>
              <a:t>Resource binding stops cross-resource reuse, NOT replay of a stolen bearer token at its intended resource.</a:t>
            </a:r>
          </a:p>
          <a:p>
            <a:r>
              <a:t>Source: docs/COVERAGE-MATRIX.md 1.1-1.10; client.py::acquire_token/discover (as mapped by coverage); tokens.py::TokenValidator; scenarios.py no-token/discovery; scripts/scenario.ps1 and scenario.sh. Public references: RFC 9728, RFC 8414, RFC 7636, RFC 8707.</a:t>
            </a:r>
          </a:p>
          <a:p>
            <a:r>
              <a:t>Evidence status: EXPECTED / ILLUSTRATIVE until the presenter executes the prepared trace. No new application execution occurred during generation. If interactive sign-in stalls beyond 20 seconds, skip that optional depth, not protocol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07:00-11:00; hard stop 11:00. Return to Terminal A / Editor; if no terminals, next backup 10 then 9 for segment 4.</a:t>
            </a:r>
          </a:p>
          <a:p>
            <a:r>
              <a:t>Core commands in demo: .\scripts\scenario.ps1 scope-denial ; .\scripts\scenario.ps1 business-rule-denial</a:t>
            </a:r>
          </a:p>
          <a:p>
            <a:r>
              <a:t>Bash: ./scripts/scenario.sh scope-denial ; ./scripts/scenario.sh business-rule-denial</a:t>
            </a:r>
          </a:p>
          <a:p>
            <a:r>
              <a:t>Browser: Run those named scenarios; it reports the server's decision, never its own authorization.</a:t>
            </a:r>
          </a:p>
          <a:p>
            <a:r>
              <a:t>Read/assessment depth: in a preconfigured live client signed in as Sam, ask 'Show me order ORD-1001', then 'Assess whether order ORD-1001 should be refunded, and show the assessment.' get_order and assess_refund need Refunds.Read and object ownership. This is optional client interaction, NOT an invented assess-refund scenario. If the client is unavailable, explain the functions from this slide/code without manufacturing a run.</a:t>
            </a:r>
          </a:p>
          <a:p>
            <a:r>
              <a:t>scope-denial: Dana reads her ORD-1002, sees the listed tools, then calls refund_order without Refunds.Write. Expect POLICY_MISSING_SCOPE, R003; ledger unchanged.</a:t>
            </a:r>
          </a:p>
          <a:p>
            <a:r>
              <a:t>business-rule-denial: Sam requests a refund on owned but ineligible ORD-1004. Expect POLICY_ORDER_NOT_REFUNDABLE, R200; ledger unchanged.</a:t>
            </a:r>
          </a:p>
          <a:p>
            <a:r>
              <a:t>Optional .\scripts\scenario.ps1 over-limit-denial and .\scripts\scenario.ps1 unapproved-client (same scenario names through ./scripts/scenario.sh). Expect POLICY_AMOUNT_EXCEEDS_PER_CALL_LIMIT / R203 and POLICY_CLIENT_NOT_ALLOWED / R001.</a:t>
            </a:r>
          </a:p>
          <a:p>
            <a:r>
              <a:t>Locate demo/src/refund_demo/policy.py::evaluate, not the stale docs' decide symbol. Policy version: refund-policy/2026-10-06.1. Checks include approved client, known tool, exact delegated scope, known principal, order existence, ownership; then refund eligibility, integer-positive amount, currency, per-call ceiling and balance. Read/advice allow is R100; refund allow is R299. Deny by default. Every tool invokes authorization; tools/list, hints, schemas and user-supplied identity are not permission.</a:t>
            </a:r>
          </a:p>
          <a:p>
            <a:r>
              <a:t>These are tool/business denials with a reason code, not the transport HTTP 401 from slide 7. An expected denial can be PASS because the security expectation held, NOT because a refund succeeded.</a:t>
            </a:r>
          </a:p>
          <a:p>
            <a:r>
              <a:t>Source: policy.py::evaluate; config.py policy_version; fixtures.py; mcp_server/app.py::_authorize; scenarios.py; docs/COVERAGE-MATRIX.md section 2. Evidence: EXPECTED / ILLUSTRATIVE, not fresh test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11:00-15:00; hard stop 15:00. Return to Terminal A; if no terminals, next backup 11 at 15:00.</a:t>
            </a:r>
          </a:p>
          <a:p>
            <a:r>
              <a:t>In demo: .\scripts\scenario.ps1 allowed-refund</a:t>
            </a:r>
          </a:p>
          <a:p>
            <a:r>
              <a:t>Bash: ./scripts/scenario.sh allowed-refund</a:t>
            </a:r>
          </a:p>
          <a:p>
            <a:r>
              <a:t>Browser: Run allowed-refund once against the already-prepared local services.</a:t>
            </a:r>
          </a:p>
          <a:p>
            <a:r>
              <a:t>Send: Sam calls refund_order for ORD-1001 with amount_minor=4000 and currency=CAD, then repeats EXACTLY the same request and idempotency key. Do not print an idempotency-key value.</a:t>
            </a:r>
          </a:p>
          <a:p>
            <a:r>
              <a:t>Expect: idempotent_replay=false then true, delegated_identity_preserved=true, upstream_audience=api://refund-upstream. Total rises by 4000 ONCE. The projected 0 -&gt; 4000 -&gt; 4000 assumes a clean ledger; otherwise explain the actual baseline and delta, not an invented zero.</a:t>
            </a:r>
          </a:p>
          <a:p>
            <a:r>
              <a:t>Why: A first evaluates R299/ALLOW, then exchanges its incoming audience-bound token for a NEW downstream token carrying the SAME human. Upstream validates its own audience/scope and rechecks object/business rules. Atomic ledger/idempotency enforcement prevents an identical retry from applying again; an idempotency key is bound to its original request.</a:t>
            </a:r>
          </a:p>
          <a:p>
            <a:r>
              <a:t>Never forward an incoming token downstream. Exchange it - and if the exchange fails, fail. No application-only fallback. Workload identity for calling Foundry is a different concern from delegated user identity.</a:t>
            </a:r>
          </a:p>
          <a:p>
            <a:r>
              <a:t>Optional negative control: .\scripts\scenario.ps1 token-passthrough-blocked ; bash ./scripts/scenario.sh token-passthrough-blocked. A token with aud=api://refund-mcp-a sent directly to upstream must get HTTP 401, AUTH_WRONG_AUDIENCE; ledger unchanged.</a:t>
            </a:r>
          </a:p>
          <a:p>
            <a:r>
              <a:t>The exchange uses the local jwt-bearer profile in devidp, and the implementation has an Entra MSAL OBO path that has not been executed according to the records. Do not call the local flow a verified Entra integration.</a:t>
            </a:r>
          </a:p>
          <a:p>
            <a:r>
              <a:t>Source: scenarios.py allowed-refund/token-passthrough-blocked; delegation.py::exchange_for_upstream; upstream_api/app.py; fixtures.py; docs/COVERAGE-MATRIX.md 2.9 and section 3. Public references: RFC 7523; Microsoft identity platform OBO.</a:t>
            </a:r>
          </a:p>
          <a:p>
            <a:r>
              <a:t>Evidence: EXPECTED / ILLUSTRATIVE ledger values. Historical applied/replayed records are in docs/APPENDIX.md B, dated 2026-09-14. No synthetic PASS badge, new timestamp, refund ID or measured latency is fabricated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11:00-15:00; hard stop 15:00. Next: allowed-refund in Terminal A or backup 9.</a:t>
            </a:r>
          </a:p>
          <a:p>
            <a:r>
              <a:t>In demo: .\scripts\scenario.ps1 annotation-tampering ; bash ./scripts/scenario.sh annotation-tampering. Browser: Run annotation-tampering.</a:t>
            </a:r>
          </a:p>
          <a:p>
            <a:r>
              <a:t>Send: the scenario rewrites the local client-side hints for refund_order, including readOnlyHint. They are NOT sent back as authorization fields in tools/call. Dana then calls refund_order on ORD-1002 without Refunds.Write.</a:t>
            </a:r>
          </a:p>
          <a:p>
            <a:r>
              <a:t>Expect: POLICY_MISSING_SCOPE / R003, unchanged ledger. Why: policy reads validated identity, scopes and authoritative object state, not the client's local annotation display.</a:t>
            </a:r>
          </a:p>
          <a:p>
            <a:r>
              <a:t>get_order is read-only. refund_order is destructive and idempotent, with readOnlyHint false. Annotations are hints from a process you do not control. They are documentation, not permission.</a:t>
            </a:r>
          </a:p>
          <a:p>
            <a:r>
              <a:t>Optional live-client depth ONLY after rehearsal: use Sam with the exact owned-order refund arguments and a stable same-request idempotency key; observe the real client dialog, Cancel, then request again and Approve. Cancel should prevent sending, with no refund audit record and no mutation; this is CLIENT-ONLY evidence, not a server rejection. A ledger check alone cannot establish a dialog appeared.</a:t>
            </a:r>
          </a:p>
          <a:p>
            <a:r>
              <a:t>For an approved-but-denied example, use Dana on ORD-1002 (R003), or Sam on Riley's ORD-1003 (R006). The old manual checklist swaps these identities; do not copy it verbatim. No completed client-version/date record exists in the supplied checklist.</a:t>
            </a:r>
          </a:p>
          <a:p>
            <a:r>
              <a:t>If the UI is not rehearsed, skip the dialog and state its intended semantics. Run over-limit-denial as a SERVER negative control, not proof that a human approved. The browser demo's Run button is NOT an MCP approval dialog.</a:t>
            </a:r>
          </a:p>
          <a:p>
            <a:r>
              <a:t>Source: mcp_server/app.py tool annotations; scenarios.py annotation-tampering; policy.py::evaluate; docs/CLIENT-APPROVAL-CHECKLIST.md B/C with corrected fixtures; docs/ONSTAGE-SCRIPT.md 11:00-15:00 with corrected annotation semantics.</a:t>
            </a:r>
          </a:p>
          <a:p>
            <a:r>
              <a:t>Evidence: EXPECTED / ILLUSTRATIVE; no manufactured client screenshot or signed approval receipt.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15:00-16:30; segment hard stop 20:00. Next: ownership-denial in Terminal A or backup 12.</a:t>
            </a:r>
          </a:p>
          <a:p>
            <a:r>
              <a:t>In demo: .\scripts\scenario.ps1 wrong-audience ; bash ./scripts/scenario.sh wrong-audience. Browser: Run wrong-audience.</a:t>
            </a:r>
          </a:p>
          <a:p>
            <a:r>
              <a:t>Send: acquire a token for Resource B, api://refund-mcp-b, then present it to Resource A, api://refund-mcp-a.</a:t>
            </a:r>
          </a:p>
          <a:p>
            <a:r>
              <a:t>Expect: HTTP 401 before tool execution and AUTH_WRONG_AUDIENCE in the audited rejection path, ledger unchanged. A signature check is not an audience check.</a:t>
            </a:r>
          </a:p>
          <a:p>
            <a:r>
              <a:t>The named scenario does NOT make a successful authenticated request to Resource B. Do not narrate that wrong-audience printed a B success.</a:t>
            </a:r>
          </a:p>
          <a:p>
            <a:r>
              <a:t>Matching-resource acceptance is asserted by demo/tests/test_adversarial.py::test_the_same_token_works_at_its_own_resource: it acquires a fresh Sam token for B with Probe.Read, calls probe_inventory at B, and asserts no tool error. This is HTTP/MCP integration-test SOURCE, not a test executed during generation. Despite its name, it does not reuse the token from test_token_minted_for_resource_b_is_rejected_at_resource_a; those are separate tests with separately acquired tokens. A continuous SAME-token A/B demonstration remains EXPECTED CONTROL - NOT CAPTURED.</a:t>
            </a:r>
          </a:p>
          <a:p>
            <a:r>
              <a:t>Separately, demo/tests/test_tokens.py::test_a_resource_may_accept_several_identifiers_for_itself is validator-level coverage for A's API identifier or configured HTTP URL, NOT B endpoint acceptance.</a:t>
            </a:r>
          </a:p>
          <a:p>
            <a:r>
              <a:t>Resource binding prevents cross-resource reuse, not replay of a stolen bearer token at its intended service. A and B are distinct resources; this implementation may accept both the configured App ID URI and HTTP URL for the SAME resource, not arbitrary audiences.</a:t>
            </a:r>
          </a:p>
          <a:p>
            <a:r>
              <a:t>Source: scenarios.py wrong-audience; tokens.py::TokenValidator; config.py audiences; docs/COVERAGE-MATRIX.md 1.9 and 5.5 (corrected evidence scope); docs/APPENDIX.md B rejected-token record.</a:t>
            </a:r>
          </a:p>
          <a:p>
            <a:r>
              <a:t>Evidence: EXPECTED / ILLUSTRATIVE for the A-rejection exchange; STATIC INTEGRATION-TEST ASSERTION for B acceptance, not rerun here. The recorded sanitized transport denial on backup 15 is historical, not the missing same-token A/B capture. Presenter action: capture and sanitize that continuous control during a separate rehearsal if a live same-token acceptance claim is desired.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16:30-18:00; hard stop 20:00. Next: prompt-injection in Terminal A or backup 13.</a:t>
            </a:r>
          </a:p>
          <a:p>
            <a:r>
              <a:t>In demo: .\scripts\scenario.ps1 ownership-denial ; bash ./scripts/scenario.sh ownership-denial. Browser: Run ownership-denial.</a:t>
            </a:r>
          </a:p>
          <a:p>
            <a:r>
              <a:t>Send: Sam, a refund-capable caller with Refunds.Write, requests 99000 minor units on ORD-1003. That order belongs to Riley, NOT Sam.</a:t>
            </a:r>
          </a:p>
          <a:p>
            <a:r>
              <a:t>Expect: POLICY_ORDER_NOT_ASSIGNED, R006, ledger digest unchanged. Ownership precedes the amount ceiling; do not call this the over-limit test just because 99000 exceeds Sam's limit.</a:t>
            </a:r>
          </a:p>
          <a:p>
            <a:r>
              <a:t>Name the deputy: the MCP server can reach the upstream refund capability. Name the mismatch: its ability to invoke that capability must not become authority for Sam to touch Riley's object. A scope describes what kind of action Sam may perform; it never identifies every object Sam may act on.</a:t>
            </a:r>
          </a:p>
          <a:p>
            <a:r>
              <a:t>The upstream still needs its own delegated token and independent checks. The server does not solve this by trusting a user_id argument, a model suggestion, a client dialog, or a broad service token.</a:t>
            </a:r>
          </a:p>
          <a:p>
            <a:r>
              <a:t>Source: fixtures.py employees/orders; policy.py::evaluate R006; scenarios.py ownership-denial; docs/ONSTAGE-SCRIPT.md deputy segment with corrected identity, object ownership, and scope spelling.</a:t>
            </a:r>
          </a:p>
          <a:p>
            <a:r>
              <a:t>Evidence: EXPECTED / ILLUSTRATIVE. If showing a previous run, identify that transcript and its date; no previous run transcript is invented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18:00-20:00; hard stop 20:00. Next window: Terminal B audit; if unavailable, backup 15.</a:t>
            </a:r>
          </a:p>
          <a:p>
            <a:r>
              <a:t>In demo: .\scripts\scenario.ps1 prompt-injection ; bash ./scripts/scenario.sh prompt-injection. Browser: Run prompt-injection.</a:t>
            </a:r>
          </a:p>
          <a:p>
            <a:r>
              <a:t>Send: Sam assesses ORD-1005, whose free-text notes contain synthetic attacker-written instructions. Then the HARNESS explicitly calls refund_order against Riley's ORD-1003 for amount_minor=99000. The hostile notes are in ORD-1005, not ORD-1004.</a:t>
            </a:r>
          </a:p>
          <a:p>
            <a:r>
              <a:t>Expect: the assessment reports its actual mode, then the forced refund gets POLICY_ORDER_NOT_ASSIGNED / R006 and the ledger remains unchanged.</a:t>
            </a:r>
          </a:p>
          <a:p>
            <a:r>
              <a:t>This is a forced harness replay, not evidence that an autonomous model selected or executed an unintended tool. It exercises the attempted redirection described in the proposal without inventing model behavior.</a:t>
            </a:r>
          </a:p>
          <a:p>
            <a:r>
              <a:t>If a model's refusal is your security boundary, your security boundary is a probability distribution. The deterministic boundary is policy.py::evaluate. Advice cannot expand a principal's objects, scopes or limits.</a:t>
            </a:r>
          </a:p>
          <a:p>
            <a:r>
              <a:t>If filtered, say PLATFORM content filter, not model refusal. If offline, read the offline label. If a model actually answered, describe that observed advice without granting it authority. Backup 14 separates these outcomes.</a:t>
            </a:r>
          </a:p>
          <a:p>
            <a:r>
              <a:t>A configured remote call can wait through failure/retry before fallback; do not promise an instant return. If behind, switch to this explicitly illustrative slide rather than sacrificing the audience or deputy lessons.</a:t>
            </a:r>
          </a:p>
          <a:p>
            <a:r>
              <a:t>Source: fixtures.py injected ORD-1005; scenarios.py prompt-injection; foundry.py; policy.py::evaluate R006; docs/EVENTS.md live model rehearsal.</a:t>
            </a:r>
          </a:p>
          <a:p>
            <a:r>
              <a:t>Evidence: EXPECTED / ILLUSTRATIVE until presenter execution. No hostile payload is reproduced, no fresh model attack is asserted, and no fabricated platform-filter result is displayed.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depth inside 07:00-11:00 or 18:00-20:00, NEVER extra time. Return to Terminal A; if the hard stop arrives, next audit / slide 4.</a:t>
            </a:r>
          </a:p>
          <a:p>
            <a:r>
              <a:t>assess_refund can produce live advisory text, report a platform content-filter result, or return an explicitly labeled offline assessment. filtered:true can coexist with live:false because no model-generated advice was returned. live:false alone does not distinguish filtering from offline fallback.</a:t>
            </a:r>
          </a:p>
          <a:p>
            <a:r>
              <a:t>Offline content includes [OFFLINE ASSESSMENT - NO MODEL WAS CALLED]. For a configured failure this identifies the local fallback text, not proof that no network attempt happened; do not promise instantaneous network fallback.</a:t>
            </a:r>
          </a:p>
          <a:p>
            <a:r>
              <a:t>The platform's filtering behavior was recorded on the local and AKS rehearsals; it is not guaranteed to catch future injection. It is neither the app's deterministic policy nor an MCP authorization feature.</a:t>
            </a:r>
          </a:p>
          <a:p>
            <a:r>
              <a:t>The recorded backend deployment name is gpt-5.6-sol. This is not the GPT-6 Astra coding agent and not a requirement that all deployments use that model name.</a:t>
            </a:r>
          </a:p>
          <a:p>
            <a:r>
              <a:t>The cluster's recorded Foundry authentication used an API key in a Kubernetes Secret supplied only to mcp-a. No values appear in this deck. This was NOT a verified workload-identity deployment.</a:t>
            </a:r>
          </a:p>
          <a:p>
            <a:r>
              <a:t>In every outcome, the authorization boundary is unchanged. The policy does not use model output as a capability or approval.</a:t>
            </a:r>
          </a:p>
          <a:p>
            <a:r>
              <a:t>Source: foundry.py assessment helpers; scenarios.py prompt-injection evidence; docs/EVENTS.md 2026-09-16 live model rehearsal and cloud model rehearsal; docs/COMPATIBILITY-RECORD.md section 4; docs/DEPLOYMENT.md section 7.</a:t>
            </a:r>
          </a:p>
          <a:p>
            <a:r>
              <a:t>Evidence: ILLUSTRATIVE mode comparison backed by static implementation and dated recorded findings, not new inference. Do not invent token counts, latency, or a new timestamp.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20:00-21:00; segment hard stop 23:00. Next: slide 4 at approximately 21:00.</a:t>
            </a:r>
          </a:p>
          <a:p>
            <a:r>
              <a:t>Primary operator action in demo: .\scripts\audit.ps1 -Last 30</a:t>
            </a:r>
          </a:p>
          <a:p>
            <a:r>
              <a:t>Bash: ./scripts/audit.sh 30</a:t>
            </a:r>
          </a:p>
          <a:p>
            <a:r>
              <a:t>The runbook says -Last 6, but a short tail after three attacks may omit the allowed refund. Use 30 and locate one allowed refund and one deny without rerunning scenarios. For raw JSON, .\scripts\audit.ps1 -Last 30 -Raw ; bash ./scripts/audit.sh 30 --raw.</a:t>
            </a:r>
          </a:p>
          <a:p>
            <a:r>
              <a:t>Browser alternative: click Last 20 in the already-running UI's Audit trail (it does not automatically refresh after a scenario). A short tail may omit the allow; fall back to this recorded comparison rather than mutating the ledger.</a:t>
            </a:r>
          </a:p>
          <a:p>
            <a:r>
              <a:t>The slide is a selected-field, human-readable excerpt from docs/APPENDIX.md B, recorded 2026-09-14: allowed at 19:34:04.230+00:00; rejected token at 19:43:43.207+00:00. 'reason: wrong audience' is a display paraphrase of reason_code AUTH_WRONG_AUDIENCE, not a renamed JSON field. It is NOT today's run. It does not show a policy denial attributed to a validated user; the right side is a TRANSPORT rejection.</a:t>
            </a:r>
          </a:p>
          <a:p>
            <a:r>
              <a:t>Follow trace_id -&gt; mcp_request_id -&gt; user_pseudonym -&gt; client_id -&gt; resource_audience -&gt; tool -&gt; policy_version -&gt; policy_rule_id -&gt; decision/reason_code -&gt; upstream_outcome -&gt; ledger_changed. The user subject is pseudonymized; validated tenant_id is retained as-is. The older example contains a development tenant label; this slide omits tenant values entirely. Do not infer universal sanitization of arbitrary argument or outcome text, and do not project raw identity strings.</a:t>
            </a:r>
          </a:p>
          <a:p>
            <a:r>
              <a:t>For rejected tokens, identity_state is untrusted; user/tenant/issuer/client remain empty. Unvalidated claims are attacker-supplied data, not a trusted identity. There is no policy rule ID on a transport rejection.</a:t>
            </a:r>
          </a:p>
          <a:p>
            <a:r>
              <a:t>Arguments are allowlisted; _omitted_keys names idempotency_key without exposing its value. client_approval_evidence is not-observable-by-server, not proof of a human dialog.</a:t>
            </a:r>
          </a:p>
          <a:p>
            <a:r>
              <a:t>The recorded retry at 19:34:07.080+00:00 has upstream_status 200, upstream_outcome replayed, ledger_changed false. A distinct request does not imply a second movement.</a:t>
            </a:r>
          </a:p>
          <a:p>
            <a:r>
              <a:t>This is a JSONL application log on disk, NOT immutable and NOT tamper-proof. Append-only storage and independent retention are separate production work. Cloud Application Insights/KQL is optional and not verified by this deck.</a:t>
            </a:r>
          </a:p>
          <a:p>
            <a:r>
              <a:t>Source: docs/APPENDIX.md B (explicit provenance); audit.py record helpers; docs/ONSTAGE-SCRIPT.md evidence; docs/COVERAGE-MATRIX.md section 6.</a:t>
            </a:r>
          </a:p>
          <a:p>
            <a:r>
              <a:t>Evidence: RECORDED, selected fields. If reading live records, switch narration to LIVE only after actual presenter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Q&amp;A within 23:00-25:00; no extra time. Return to slide 6.</a:t>
            </a:r>
          </a:p>
          <a:p>
            <a:r>
              <a:t>The primary plan remains local PowerShell. All operator terminals start in demo. Bash uses actual .sh twins, not PowerShell scripts.</a:t>
            </a:r>
          </a:p>
          <a:p>
            <a:r>
              <a:t>The optional FastAPI web UI wraps scenarios.run_one and shows results, ledger fingerprint and audit. It is not the policy engine, a real MCP client approval UI, or evidence that a model chose a tool. The row 'Run -&gt; result -&gt; ledger -&gt; audit' is a labeled workflow schematic, not a screenshot.</a:t>
            </a:r>
          </a:p>
          <a:p>
            <a:r>
              <a:t>Before projection, use the page header A-/A+ controls (or + / - / 0) to size it for the back row. Keep About this demo and scenario Sends / Expects / Why expanders collapsed; brief one when it helps. Do not launch the UI during slide generation.</a:t>
            </a:r>
          </a:p>
          <a:p>
            <a:r>
              <a:t>Operator setup commands exist as .\scripts\web.ps1 and ./scripts/web.sh for an already-prepared demo. Normal local URL is http://localhost:8080; never project a live cloud address or access-bearing URL. The guide lists scenario-run actions, not a cloud deployment tutorial.</a:t>
            </a:r>
          </a:p>
          <a:p>
            <a:r>
              <a:t>Compose and AKS are documented recorded options, not the default for Toronto. Records describe five containers; the four internal services plus browser reporting surface are different from the four local core processes.</a:t>
            </a:r>
          </a:p>
          <a:p>
            <a:r>
              <a:t>The recorded public cloud deployment used plain HTTP and a shared demo access key. It is not a production security reference. No live address, key, endpoint value, or secret is reproduced. Current deployment state was NOT inspected.</a:t>
            </a:r>
          </a:p>
          <a:p>
            <a:r>
              <a:t>Do not equate the recorded AKS path with the separate unexecuted Bicep artifact, Entra authentication, or Foundry workload identity.</a:t>
            </a:r>
          </a:p>
          <a:p>
            <a:r>
              <a:t>Source: docs/DEPLOYMENT.md modes 1-4 and sections 7-8; docs/SETUP.md; web/app.py reporting path; briefings.py; docs/EVENTS.md recorded rehearsals.</a:t>
            </a:r>
          </a:p>
          <a:p>
            <a:r>
              <a:t>Evidence: ILLUSTRATIVE hosting map; historical hosting findings only. No services, scenarios, deployments or inference were run to build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inside closing/Q&amp;A, hard stop 25:00. Return to slide 6.</a:t>
            </a:r>
          </a:p>
          <a:p>
            <a:r>
              <a:t>Slide 5 carries rules 1-3: resource binding; scopes plus object checks; server decisions despite approval. This slide carries rules 4-7, kept separate for readable projection.</a:t>
            </a:r>
          </a:p>
          <a:p>
            <a:r>
              <a:t>4. Never forward the incoming MCP token downstream. Exchange for the upstream audience, preserving the user; on failure do not fall back to application-only authority.</a:t>
            </a:r>
          </a:p>
          <a:p>
            <a:r>
              <a:t>5. Annotations are hints for the client UI, not trusted policy inputs. The scenario's local tampering is not sent back as authorization.</a:t>
            </a:r>
          </a:p>
          <a:p>
            <a:r>
              <a:t>6. Model output is advice about untrusted input. It may inform a human, never widen scopes, objects, or business limits.</a:t>
            </a:r>
          </a:p>
          <a:p>
            <a:r>
              <a:t>7. Write the audit record at the decision point, including denials. Pseudonymize identity and allowlist arguments. A tool without an explicit policy rule is denied, not implicitly allowed.</a:t>
            </a:r>
          </a:p>
          <a:p>
            <a:r>
              <a:t>Source: docs/CONTROL-MAP.md Take this home, with actual scopes Refunds.Read / Refunds.Write from implementation. Evidence: ILLUSTRATIVE checklist. No new execution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Q&amp;A, hard stop 25:00. Return to slide 6.</a:t>
            </a:r>
          </a:p>
          <a:p>
            <a:r>
              <a:t>Recorded findings are attributed to docs/COMPATIBILITY-RECORD.md (initial record 2026-09-14, later additions) and docs/EVENTS.md / DEPLOYMENT.md September 15-16 rehearsal descriptions. These records report local scripts, browser API, Compose and AKS scenarios, live Foundry advice and content-filter handling. The records contain chronology/teardown-versus-left-running inconsistencies; do not infer today's cluster state from them.</a:t>
            </a:r>
          </a:p>
          <a:p>
            <a:r>
              <a:t>Static inventory contains 14 scenario entries. Documentation reports 207 automated tests as historical execution, NOT a newly executed suite. No test count is projected as today's result.</a:t>
            </a:r>
          </a:p>
          <a:p>
            <a:r>
              <a:t>Not established: AUTH_MODE=entra; cluster workload identity for Foundry (recorded AKS used an API key); the separate demo/infra Bicep deployment; bash AKS deployment end-to-end; exact live client redirect/version and completed approval checklist; successful current Application Insights/KQL run. A compiling template, SDK support or a checklist is not execution evidence.</a:t>
            </a:r>
          </a:p>
          <a:p>
            <a:r>
              <a:t>No claim of tamper-proof JSONL, stolen-token replay prevention at the intended resource, universal filter reliability, production multi-tenant isolation, or client approval attestation. Resource binding handles the different-resource reuse problem, not all bearer-token theft.</a:t>
            </a:r>
          </a:p>
          <a:p>
            <a:r>
              <a:t>devidp is a development identity service, not production authentication. Public AKS rehearsal used shared-key plain HTTP; never copy its endpoint or key into public materials.</a:t>
            </a:r>
          </a:p>
          <a:p>
            <a:r>
              <a:t>Source: docs/COMPATIBILITY-RECORD.md section 4; docs/DEPLOYMENT.md 7-8; docs/EVENTS.md rehearsals; docs/CLIENT-APPROVAL-CHECKLIST.md unfilled record; docs/APPENDIX.md E.</a:t>
            </a:r>
          </a:p>
          <a:p>
            <a:r>
              <a:t>Evidence: RECORDED FINDINGS / UNVERIFIED ITEMS, explicitly not fresh runtime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for Q&amp;A, hard stop 25:00. Return to slide 6. Do not turn this reference slide into another segment.</a:t>
            </a:r>
          </a:p>
          <a:p>
            <a:r>
              <a:t>Public sources:</a:t>
            </a:r>
          </a:p>
          <a:p>
            <a:r>
              <a:t>MCP authorization: https://modelcontextprotocol.io/specification/latest/basic/authorization</a:t>
            </a:r>
          </a:p>
          <a:p>
            <a:r>
              <a:t>Protected Resource Metadata: https://www.rfc-editor.org/rfc/rfc9728</a:t>
            </a:r>
          </a:p>
          <a:p>
            <a:r>
              <a:t>Authorization Server Metadata: https://www.rfc-editor.org/rfc/rfc8414</a:t>
            </a:r>
          </a:p>
          <a:p>
            <a:r>
              <a:t>PKCE: https://www.rfc-editor.org/rfc/rfc7636</a:t>
            </a:r>
          </a:p>
          <a:p>
            <a:r>
              <a:t>Resource Indicators: https://www.rfc-editor.org/rfc/rfc8707</a:t>
            </a:r>
          </a:p>
          <a:p>
            <a:r>
              <a:t>JWT bearer grants: https://www.rfc-editor.org/rfc/rfc7523</a:t>
            </a:r>
          </a:p>
          <a:p>
            <a:r>
              <a:t>OAuth security best practice: https://www.rfc-editor.org/rfc/rfc9700</a:t>
            </a:r>
          </a:p>
          <a:p>
            <a:r>
              <a:t>Microsoft on-behalf-of flow: https://learn.microsoft.com/entra/identity-platform/v2-oauth2-on-behalf-of-flow</a:t>
            </a:r>
          </a:p>
          <a:p>
            <a:r>
              <a:t>Project: https://github.com/bbenz/mcp-tool-calling</a:t>
            </a:r>
          </a:p>
          <a:p>
            <a:r>
              <a:t>Schedule: https://events.linuxfoundation.org/mcp-dev-summit-toronto/program/schedule/?id=1284815</a:t>
            </a:r>
          </a:p>
          <a:p>
            <a:r>
              <a:t>Protocol revision 2026-07-28 and MCP SDK 2.2.0 are recorded compatibility findings, not freshly imported from the demo environment. The latest-spec URL can change; consult the recorded compatible revision when reproducing this demo.</a:t>
            </a:r>
          </a:p>
          <a:p>
            <a:r>
              <a:t>Source mapping: docs/APPENDIX.md F for reference topics; docs/CONTROL-MAP.md for attendee checklist; docs/COVERAGE-MATRIX.md for tests and expectations; docs/RUNBOOK.md for rehearsal operations. Implementation takes precedence over drifted example identities in prose.</a:t>
            </a:r>
          </a:p>
          <a:p>
            <a:r>
              <a:t>Evidence: references, not proof of live integrations. Only the event schedule and repository-public status were checked online during generation; no private material was uploaded.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github.com/bbenz/mcp-tool-calling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640080" y="731520"/>
            <a:ext cx="758952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Who Can Call</a:t>
            </a:r>
          </a:p>
          <a:p>
            <a:pPr>
              <a:spcAft>
                <a:spcPts val="5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This MCP Tool?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7498079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3200" b="0">
                <a:solidFill>
                  <a:srgbClr val="F0CB75"/>
                </a:solidFill>
                <a:latin typeface="Calibri"/>
              </a:defRPr>
            </a:pPr>
            <a:r>
              <a:t>OAuth, Resource Binding,</a:t>
            </a:r>
          </a:p>
          <a:p>
            <a:pPr>
              <a:spcAft>
                <a:spcPts val="500"/>
              </a:spcAft>
              <a:defRPr sz="3200" b="0">
                <a:solidFill>
                  <a:srgbClr val="F0CB75"/>
                </a:solidFill>
                <a:latin typeface="Calibri"/>
              </a:defRPr>
            </a:pPr>
            <a:r>
              <a:t>and Runtime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86200"/>
            <a:ext cx="75895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Brian Benz</a:t>
            </a:r>
          </a:p>
          <a:p>
            <a:pPr>
              <a:spcAft>
                <a:spcPts val="5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Principal AI Advocate, Microsoft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749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MCP Dev Summit Toronto  |  October 6,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005840"/>
            <a:ext cx="3246120" cy="3749039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32588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96451"/>
                </a:solidFill>
                <a:latin typeface="Calibri"/>
              </a:defRPr>
            </a:pPr>
            <a:r>
              <a:t>SYNTHETIC</a:t>
            </a:r>
          </a:p>
          <a:p>
            <a:pPr>
              <a:spcAft>
                <a:spcPts val="500"/>
              </a:spcAft>
              <a:defRPr sz="2800" b="1">
                <a:solidFill>
                  <a:srgbClr val="196451"/>
                </a:solidFill>
                <a:latin typeface="Calibri"/>
              </a:defRPr>
            </a:pPr>
            <a:r>
              <a:t>REFUND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06040"/>
            <a:ext cx="269748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3200" b="0">
                <a:solidFill>
                  <a:srgbClr val="18352F"/>
                </a:solidFill>
                <a:latin typeface="Calibri"/>
              </a:defRPr>
            </a:pPr>
            <a:r>
              <a:t>User</a:t>
            </a:r>
          </a:p>
          <a:p>
            <a:pPr>
              <a:spcAft>
                <a:spcPts val="500"/>
              </a:spcAft>
              <a:defRPr sz="3200" b="0">
                <a:solidFill>
                  <a:srgbClr val="18352F"/>
                </a:solidFill>
                <a:latin typeface="Calibri"/>
              </a:defRPr>
            </a:pPr>
            <a:r>
              <a:t>+ client</a:t>
            </a:r>
          </a:p>
          <a:p>
            <a:pPr>
              <a:spcAft>
                <a:spcPts val="500"/>
              </a:spcAft>
              <a:defRPr sz="3200" b="0">
                <a:solidFill>
                  <a:srgbClr val="18352F"/>
                </a:solidFill>
                <a:latin typeface="Calibri"/>
              </a:defRPr>
            </a:pPr>
            <a:r>
              <a:t>+ order</a:t>
            </a:r>
          </a:p>
        </p:txBody>
      </p:sp>
      <p:sp>
        <p:nvSpPr>
          <p:cNvPr id="2" name="Slide footer"/>
          <p:cNvSpPr txBox="1"/>
          <p:nvPr/>
        </p:nvSpPr>
        <p:spPr>
          <a:xfrm>
            <a:off x="548640" y="6007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F0CB75"/>
                </a:solidFill>
                <a:latin typeface="Calibri"/>
              </a:defRPr>
            </a:pPr>
            <a:r>
              <a:t>MCP DEV SUMMIT TORONTO 2026</a:t>
            </a:r>
          </a:p>
        </p:txBody>
      </p:sp>
      <p:sp>
        <p:nvSpPr>
          <p:cNvPr id="3" name="Slide number"/>
          <p:cNvSpPr txBox="1"/>
          <p:nvPr/>
        </p:nvSpPr>
        <p:spPr>
          <a:xfrm>
            <a:off x="11045952" y="60076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F0CB75"/>
                </a:solidFill>
                <a:latin typeface="Calibr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8352F"/>
                </a:solidFill>
                <a:latin typeface="Calibri"/>
              </a:defRPr>
            </a:pPr>
            <a:r>
              <a:t>Three different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566160" cy="3474720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938528"/>
            <a:ext cx="312724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615184"/>
            <a:ext cx="3127248" cy="256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18352F"/>
                </a:solidFill>
                <a:latin typeface="Calibri"/>
              </a:defRPr>
            </a:pPr>
            <a:r>
              <a:t>Who is calling?</a:t>
            </a:r>
          </a:p>
          <a:p>
            <a:pPr>
              <a:spcAft>
                <a:spcPts val="500"/>
              </a:spcAft>
              <a:defRPr sz="2800" b="0">
                <a:solidFill>
                  <a:srgbClr val="18352F"/>
                </a:solidFill>
                <a:latin typeface="Calibri"/>
              </a:defRPr>
            </a:pPr>
            <a:r>
              <a:t>Trusted identity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737360"/>
            <a:ext cx="3566160" cy="3474720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938528"/>
            <a:ext cx="312724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615184"/>
            <a:ext cx="3127248" cy="256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18352F"/>
                </a:solidFill>
                <a:latin typeface="Calibri"/>
              </a:defRPr>
            </a:pPr>
            <a:r>
              <a:t>Did the human intend it?</a:t>
            </a:r>
          </a:p>
          <a:p>
            <a:pPr>
              <a:spcAft>
                <a:spcPts val="500"/>
              </a:spcAft>
              <a:defRPr sz="2800" b="0">
                <a:solidFill>
                  <a:srgbClr val="18352F"/>
                </a:solidFill>
                <a:latin typeface="Calibri"/>
              </a:defRPr>
            </a:pPr>
            <a:r>
              <a:t>Client-owned choice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737360"/>
            <a:ext cx="3566160" cy="3474720"/>
          </a:xfrm>
          <a:prstGeom prst="roundRect">
            <a:avLst>
              <a:gd name="adj" fmla="val 8000"/>
            </a:avLst>
          </a:prstGeom>
          <a:solidFill>
            <a:srgbClr val="18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1938528"/>
            <a:ext cx="312724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Authorization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5" y="2615184"/>
            <a:ext cx="3127248" cy="256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May this principal</a:t>
            </a:r>
          </a:p>
          <a:p>
            <a:pPr>
              <a:spcAft>
                <a:spcPts val="5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act on this object</a:t>
            </a:r>
          </a:p>
          <a:p>
            <a:pPr>
              <a:spcAft>
                <a:spcPts val="5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right now?</a:t>
            </a:r>
          </a:p>
        </p:txBody>
      </p:sp>
      <p:sp>
        <p:nvSpPr>
          <p:cNvPr id="3" name="Slide footer"/>
          <p:cNvSpPr txBox="1"/>
          <p:nvPr/>
        </p:nvSpPr>
        <p:spPr>
          <a:xfrm>
            <a:off x="548640" y="6007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MCP DEV SUMMIT TORONTO 2026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1045952" y="60076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8352F"/>
                </a:solidFill>
                <a:latin typeface="Calibri"/>
              </a:defRPr>
            </a:pPr>
            <a:r>
              <a:t>Follow the trust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14600"/>
            <a:ext cx="2377440" cy="1554480"/>
          </a:xfrm>
          <a:prstGeom prst="roundRect">
            <a:avLst>
              <a:gd name="adj" fmla="val 8000"/>
            </a:avLst>
          </a:prstGeom>
          <a:solidFill>
            <a:srgbClr val="F8E9E5"/>
          </a:solidFill>
          <a:ln w="19050">
            <a:solidFill>
              <a:srgbClr val="9A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9A3535"/>
                </a:solidFill>
                <a:latin typeface="Calibri"/>
              </a:defRPr>
            </a:pPr>
            <a:r>
              <a:t>MCP client</a:t>
            </a:r>
          </a:p>
          <a:p>
            <a:pPr>
              <a:spcAft>
                <a:spcPts val="500"/>
              </a:spcAft>
              <a:defRPr sz="2400" b="1">
                <a:solidFill>
                  <a:srgbClr val="9A3535"/>
                </a:solidFill>
                <a:latin typeface="Calibri"/>
              </a:defRPr>
            </a:pPr>
            <a:r>
              <a:t>Approval +</a:t>
            </a:r>
          </a:p>
          <a:p>
            <a:pPr>
              <a:spcAft>
                <a:spcPts val="500"/>
              </a:spcAft>
              <a:defRPr sz="2400" b="1">
                <a:solidFill>
                  <a:srgbClr val="9A3535"/>
                </a:solidFill>
                <a:latin typeface="Calibri"/>
              </a:defRPr>
            </a:pPr>
            <a:r>
              <a:t>client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1463040"/>
            <a:ext cx="3383280" cy="868680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77639" y="1691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8352F"/>
                </a:solidFill>
                <a:latin typeface="Calibri"/>
              </a:defRPr>
            </a:pPr>
            <a:r>
              <a:t>Authorization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274320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8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5072" y="297180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MCP Resource A</a:t>
            </a:r>
          </a:p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Token checks +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743200"/>
            <a:ext cx="3200400" cy="1234440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2971800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8352F"/>
                </a:solidFill>
                <a:latin typeface="Calibri"/>
              </a:defRPr>
            </a:pPr>
            <a:r>
              <a:t>Upstream API</a:t>
            </a:r>
          </a:p>
          <a:p>
            <a:pPr>
              <a:spcAft>
                <a:spcPts val="500"/>
              </a:spcAft>
              <a:defRPr sz="2400" b="1">
                <a:solidFill>
                  <a:srgbClr val="18352F"/>
                </a:solidFill>
                <a:latin typeface="Calibri"/>
              </a:defRPr>
            </a:pPr>
            <a:r>
              <a:t>Independent rechecks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4663440"/>
            <a:ext cx="3200400" cy="868680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48920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8352F"/>
                </a:solidFill>
                <a:latin typeface="Calibri"/>
              </a:defRPr>
            </a:pPr>
            <a:r>
              <a:t>Synthetic ledger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4663440"/>
            <a:ext cx="3383280" cy="868680"/>
          </a:xfrm>
          <a:prstGeom prst="roundRect">
            <a:avLst>
              <a:gd name="adj" fmla="val 8000"/>
            </a:avLst>
          </a:prstGeom>
          <a:solidFill>
            <a:srgbClr val="F8E9E5"/>
          </a:solidFill>
          <a:ln w="19050">
            <a:solidFill>
              <a:srgbClr val="9A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48920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9A3535"/>
                </a:solidFill>
                <a:latin typeface="Calibri"/>
              </a:defRPr>
            </a:pPr>
            <a:r>
              <a:t>Foundry: advice only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737360" y="1920240"/>
            <a:ext cx="0" cy="548640"/>
          </a:xfrm>
          <a:prstGeom prst="line">
            <a:avLst/>
          </a:prstGeom>
          <a:ln w="31750">
            <a:solidFill>
              <a:srgbClr val="19645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737360" y="1920240"/>
            <a:ext cx="1965960" cy="0"/>
          </a:xfrm>
          <a:prstGeom prst="line">
            <a:avLst/>
          </a:prstGeom>
          <a:ln w="31750">
            <a:solidFill>
              <a:srgbClr val="19645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057400" y="1435608"/>
            <a:ext cx="15087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96451"/>
                </a:solidFill>
                <a:latin typeface="Calibri"/>
              </a:defRPr>
            </a:pPr>
            <a:r>
              <a:t>OAuth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71800" y="3291840"/>
            <a:ext cx="731520" cy="0"/>
          </a:xfrm>
          <a:prstGeom prst="line">
            <a:avLst/>
          </a:prstGeom>
          <a:ln w="31750">
            <a:solidFill>
              <a:srgbClr val="19645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560320" y="409651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96451"/>
                </a:solidFill>
                <a:latin typeface="Calibri"/>
              </a:defRPr>
            </a:pPr>
            <a:r>
              <a:t>tools/call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5486400" y="2377440"/>
            <a:ext cx="0" cy="320040"/>
          </a:xfrm>
          <a:prstGeom prst="line">
            <a:avLst/>
          </a:prstGeom>
          <a:ln w="31750">
            <a:solidFill>
              <a:srgbClr val="19645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806440" y="2340864"/>
            <a:ext cx="20574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96451"/>
                </a:solidFill>
                <a:latin typeface="Calibri"/>
              </a:defRPr>
            </a:pPr>
            <a:r>
              <a:t>Exchange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23760" y="3291840"/>
            <a:ext cx="1051560" cy="0"/>
          </a:xfrm>
          <a:prstGeom prst="line">
            <a:avLst/>
          </a:prstGeom>
          <a:ln w="31750">
            <a:solidFill>
              <a:srgbClr val="19645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0" y="2267712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96451"/>
                </a:solidFill>
                <a:latin typeface="Calibri"/>
              </a:defRPr>
            </a:pPr>
            <a:r>
              <a:t>Delegated token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966960" y="4023360"/>
            <a:ext cx="0" cy="548640"/>
          </a:xfrm>
          <a:prstGeom prst="line">
            <a:avLst/>
          </a:prstGeom>
          <a:ln w="31750">
            <a:solidFill>
              <a:srgbClr val="19645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168128" y="416052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96451"/>
                </a:solidFill>
                <a:latin typeface="Calibri"/>
              </a:defRPr>
            </a:pPr>
            <a:r>
              <a:t>Mutation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40680" y="4023360"/>
            <a:ext cx="0" cy="548640"/>
          </a:xfrm>
          <a:prstGeom prst="line">
            <a:avLst/>
          </a:prstGeom>
          <a:ln w="31750">
            <a:solidFill>
              <a:srgbClr val="9A3535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69280" y="416052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9A3535"/>
                </a:solidFill>
                <a:latin typeface="Calibri"/>
              </a:defRPr>
            </a:pPr>
            <a:r>
              <a:t>Advisory</a:t>
            </a:r>
          </a:p>
        </p:txBody>
      </p:sp>
      <p:sp>
        <p:nvSpPr>
          <p:cNvPr id="3" name="Slide footer"/>
          <p:cNvSpPr txBox="1"/>
          <p:nvPr/>
        </p:nvSpPr>
        <p:spPr>
          <a:xfrm>
            <a:off x="548640" y="6007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RED, LABELED: UNTRUSTED CLIENT / MODEL INPUT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1045952" y="60076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8352F"/>
                </a:solidFill>
                <a:latin typeface="Calibri"/>
              </a:defRPr>
            </a:pPr>
            <a:r>
              <a:t>Who enforces what?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755648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8352F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755648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Human 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55648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Not server permission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86584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542032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8352F"/>
                </a:solidFill>
                <a:latin typeface="Calibri"/>
              </a:defRPr>
            </a:pPr>
            <a:r>
              <a:t>Authorization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542032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Identity + 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542032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Not object policy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72968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18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328415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MCP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328415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Tool + object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328415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Must decide at call 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59352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114800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8352F"/>
                </a:solidFill>
                <a:latin typeface="Calibri"/>
              </a:defRPr>
            </a:pPr>
            <a:r>
              <a:t>Upstream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114800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Mutation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114800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No token passthrough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45736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4901183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8352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901183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Advice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901183"/>
            <a:ext cx="484632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Never grants authority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22976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Platform filtering is separate from authorization.</a:t>
            </a:r>
          </a:p>
        </p:txBody>
      </p:sp>
      <p:sp>
        <p:nvSpPr>
          <p:cNvPr id="3" name="Slide footer"/>
          <p:cNvSpPr txBox="1"/>
          <p:nvPr/>
        </p:nvSpPr>
        <p:spPr>
          <a:xfrm>
            <a:off x="548640" y="6007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MCP DEV SUMMIT TORONTO 2026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1045952" y="60076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3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Three rules to take home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F0C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00784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27632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Bind tokens to resources.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21992"/>
            <a:ext cx="978408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Check the audience at each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718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F0C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26664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953512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Scopes are verbs, not objects.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547872"/>
            <a:ext cx="978408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Check ownership and business state.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F0C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352544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279392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Assume Approve was clicked.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873752"/>
            <a:ext cx="978408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Decide on the server anyway.</a:t>
            </a:r>
          </a:p>
        </p:txBody>
      </p:sp>
      <p:sp>
        <p:nvSpPr>
          <p:cNvPr id="3" name="Slide footer"/>
          <p:cNvSpPr txBox="1"/>
          <p:nvPr/>
        </p:nvSpPr>
        <p:spPr>
          <a:xfrm>
            <a:off x="548640" y="6007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F0CB75"/>
                </a:solidFill>
                <a:latin typeface="Calibri"/>
              </a:defRPr>
            </a:pPr>
            <a:r>
              <a:t>MCP DEV SUMMIT TORONTO 2026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1045952" y="60076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F0CB75"/>
                </a:solidFill>
                <a:latin typeface="Calibr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8352F"/>
                </a:solidFill>
                <a:latin typeface="Calibri"/>
              </a:defRPr>
            </a:pPr>
            <a:r>
              <a:t>Control map, resources,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8229600" cy="667512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55648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8352F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755648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Human approval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86584"/>
            <a:ext cx="8229600" cy="667512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542032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8352F"/>
                </a:solidFill>
                <a:latin typeface="Calibri"/>
              </a:defRPr>
            </a:pPr>
            <a:r>
              <a:t>Authorization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542032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Identity + audience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72968"/>
            <a:ext cx="8229600" cy="667512"/>
          </a:xfrm>
          <a:prstGeom prst="roundRect">
            <a:avLst>
              <a:gd name="adj" fmla="val 8000"/>
            </a:avLst>
          </a:prstGeom>
          <a:solidFill>
            <a:srgbClr val="18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328415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MCP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328415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Tool + object 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59352"/>
            <a:ext cx="8229600" cy="667512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114800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8352F"/>
                </a:solidFill>
                <a:latin typeface="Calibri"/>
              </a:defRPr>
            </a:pPr>
            <a:r>
              <a:t>Upstream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114800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Mutation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45736"/>
            <a:ext cx="8229600" cy="667512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901183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8352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901183"/>
            <a:ext cx="356616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Advice only</a:t>
            </a:r>
          </a:p>
        </p:txBody>
      </p:sp>
      <p:pic>
        <p:nvPicPr>
          <p:cNvPr id="20" name="Picture 19" descr="QR code to public repository: https://github.com/bbenz/mcp-tool-call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1783080"/>
            <a:ext cx="2331720" cy="23317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89720" y="4343400"/>
            <a:ext cx="233172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Code +</a:t>
            </a:r>
          </a:p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control 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941832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96451"/>
                </a:solidFill>
                <a:latin typeface="Calibri"/>
              </a:defRPr>
            </a:pPr>
            <a:r>
              <a:rPr>
                <a:hlinkClick r:id="rId4"/>
              </a:rPr>
              <a:t>github.com/bbenz/mcp-tool-calling</a:t>
            </a:r>
          </a:p>
        </p:txBody>
      </p:sp>
      <p:sp>
        <p:nvSpPr>
          <p:cNvPr id="3" name="Slide footer"/>
          <p:cNvSpPr txBox="1"/>
          <p:nvPr/>
        </p:nvSpPr>
        <p:spPr>
          <a:xfrm>
            <a:off x="548640" y="6007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QUESTIONS 23:00-25:00  |  HARD STOP 25:00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1045952" y="60076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8352F"/>
                </a:solidFill>
                <a:latin typeface="Calibri"/>
              </a:defRPr>
            </a:pPr>
            <a:r>
              <a:t>The authorization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94360" cy="594360"/>
          </a:xfrm>
          <a:prstGeom prst="roundRect">
            <a:avLst>
              <a:gd name="adj" fmla="val 8000"/>
            </a:avLst>
          </a:prstGeom>
          <a:solidFill>
            <a:srgbClr val="196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3619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08760"/>
            <a:ext cx="388620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No token -&gt; HTTP 401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150876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WWW-Authenticate points to resource metadata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594360" cy="594360"/>
          </a:xfrm>
          <a:prstGeom prst="roundRect">
            <a:avLst>
              <a:gd name="adj" fmla="val 8000"/>
            </a:avLst>
          </a:prstGeom>
          <a:solidFill>
            <a:srgbClr val="196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54203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514600"/>
            <a:ext cx="388620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Discover the 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51460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Protected Resource Metadata -&gt; AS metadata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20440"/>
            <a:ext cx="594360" cy="594360"/>
          </a:xfrm>
          <a:prstGeom prst="roundRect">
            <a:avLst>
              <a:gd name="adj" fmla="val 8000"/>
            </a:avLst>
          </a:prstGeom>
          <a:solidFill>
            <a:srgbClr val="196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54787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520440"/>
            <a:ext cx="388620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Bind the authorization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352044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PKCE S256 + resource in both requests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26280"/>
            <a:ext cx="594360" cy="594360"/>
          </a:xfrm>
          <a:prstGeom prst="roundRect">
            <a:avLst>
              <a:gd name="adj" fmla="val 8000"/>
            </a:avLst>
          </a:prstGeom>
          <a:solidFill>
            <a:srgbClr val="196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55371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526280"/>
            <a:ext cx="388620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Validate, then 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52628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Trusted keys, issuer, audience, lifetime, identity</a:t>
            </a:r>
          </a:p>
        </p:txBody>
      </p:sp>
      <p:sp>
        <p:nvSpPr>
          <p:cNvPr id="3" name="Slide footer"/>
          <p:cNvSpPr txBox="1"/>
          <p:nvPr/>
        </p:nvSpPr>
        <p:spPr>
          <a:xfrm>
            <a:off x="548640" y="6007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BACKUP  |  EXPECTED TRACE - NOT A NEW CAPTURE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1045952" y="60076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8352F"/>
                </a:solidFill>
                <a:latin typeface="Calibri"/>
              </a:defRPr>
            </a:pPr>
            <a:r>
              <a:t>Policy at tools/call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96451"/>
                </a:solidFill>
                <a:latin typeface="Calibri"/>
              </a:defRPr>
            </a:pPr>
            <a:r>
              <a:t>Token validation precedes policy.evaluate.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9424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8352F"/>
                </a:solidFill>
                <a:latin typeface="Calibri"/>
              </a:defRPr>
            </a:pPr>
            <a:r>
              <a:t>Dana: missing Refunds.Write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249424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R003 / POLICY_MISSING_SCOPE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8352F"/>
                </a:solidFill>
                <a:latin typeface="Calibri"/>
              </a:defRPr>
            </a:pPr>
            <a:r>
              <a:t>Sam: ineligible ORD-1004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31089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R200 / POLICY_ORDER_NOT_REFUNDABLE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22191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6849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8352F"/>
                </a:solidFill>
                <a:latin typeface="Calibri"/>
              </a:defRPr>
            </a:pPr>
            <a:r>
              <a:t>Sam: above per-call ceiling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396849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R203 / amount exceeds per-call limit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81727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828031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8352F"/>
                </a:solidFill>
                <a:latin typeface="Calibri"/>
              </a:defRPr>
            </a:pPr>
            <a:r>
              <a:t>Unapproved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4828031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R001 / POLICY_CLIENT_NOT_ALLOWED</a:t>
            </a:r>
          </a:p>
        </p:txBody>
      </p:sp>
      <p:sp>
        <p:nvSpPr>
          <p:cNvPr id="3" name="Slide footer"/>
          <p:cNvSpPr txBox="1"/>
          <p:nvPr/>
        </p:nvSpPr>
        <p:spPr>
          <a:xfrm>
            <a:off x="548640" y="6007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BACKUP  |  EXPECTED DENIALS; LEDGER UNCHANGED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1045952" y="60076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8352F"/>
                </a:solidFill>
                <a:latin typeface="Calibri"/>
              </a:defRPr>
            </a:pPr>
            <a:r>
              <a:t>One refund. One ledger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Sam  |  ORD-1001  |  CAD 40.00 = 4000 minor units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532888"/>
            <a:ext cx="312724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209544"/>
            <a:ext cx="3127248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18352F"/>
                </a:solidFill>
                <a:latin typeface="Calibri"/>
              </a:defRPr>
            </a:pPr>
            <a:r>
              <a:t>0 minor units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33172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18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2532888"/>
            <a:ext cx="312724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First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3209544"/>
            <a:ext cx="3127248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4000</a:t>
            </a:r>
          </a:p>
          <a:p>
            <a:pPr>
              <a:spcAft>
                <a:spcPts val="5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Replay: false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331720"/>
            <a:ext cx="3566160" cy="2057400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2532888"/>
            <a:ext cx="312724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Same-key retry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3209544"/>
            <a:ext cx="3127248" cy="114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18352F"/>
                </a:solidFill>
                <a:latin typeface="Calibri"/>
              </a:defRPr>
            </a:pPr>
            <a:r>
              <a:t>4000</a:t>
            </a:r>
          </a:p>
          <a:p>
            <a:pPr>
              <a:spcAft>
                <a:spcPts val="500"/>
              </a:spcAft>
              <a:defRPr sz="2800" b="0">
                <a:solidFill>
                  <a:srgbClr val="18352F"/>
                </a:solidFill>
                <a:latin typeface="Calibri"/>
              </a:defRPr>
            </a:pPr>
            <a:r>
              <a:t>Replay: 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96451"/>
                </a:solidFill>
                <a:latin typeface="Calibri"/>
              </a:defRPr>
            </a:pPr>
            <a:r>
              <a:t>New downstream audience. Same human. No app-only fallback.</a:t>
            </a:r>
          </a:p>
        </p:txBody>
      </p:sp>
      <p:sp>
        <p:nvSpPr>
          <p:cNvPr id="3" name="Slide footer"/>
          <p:cNvSpPr txBox="1"/>
          <p:nvPr/>
        </p:nvSpPr>
        <p:spPr>
          <a:xfrm>
            <a:off x="548640" y="6007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BACKUP  |  EXPECTED FROM A CLEAN SYNTHETIC LEDGER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1045952" y="60076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8352F"/>
                </a:solidFill>
                <a:latin typeface="Calibri"/>
              </a:defRPr>
            </a:pPr>
            <a:r>
              <a:t>Hints and approval are not permission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3474720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892808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Client-owned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569464"/>
            <a:ext cx="4956048" cy="256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18352F"/>
                </a:solidFill>
                <a:latin typeface="Calibri"/>
              </a:defRPr>
            </a:pPr>
            <a:r>
              <a:t>Annotations guide a UI.</a:t>
            </a:r>
          </a:p>
          <a:p>
            <a:pPr>
              <a:spcAft>
                <a:spcPts val="500"/>
              </a:spcAft>
              <a:defRPr sz="2800" b="0">
                <a:solidFill>
                  <a:srgbClr val="18352F"/>
                </a:solidFill>
                <a:latin typeface="Calibri"/>
              </a:defRPr>
            </a:pPr>
            <a:r>
              <a:t>Cancel stops sending.</a:t>
            </a:r>
          </a:p>
          <a:p>
            <a:pPr>
              <a:spcAft>
                <a:spcPts val="500"/>
              </a:spcAft>
              <a:defRPr sz="2800" b="0">
                <a:solidFill>
                  <a:srgbClr val="18352F"/>
                </a:solidFill>
                <a:latin typeface="Calibri"/>
              </a:defRPr>
            </a:pPr>
            <a:r>
              <a:t>Approve permits sending.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394960" cy="3474720"/>
          </a:xfrm>
          <a:prstGeom prst="roundRect">
            <a:avLst>
              <a:gd name="adj" fmla="val 8000"/>
            </a:avLst>
          </a:prstGeom>
          <a:solidFill>
            <a:srgbClr val="18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1892808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Server-owned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2569464"/>
            <a:ext cx="4956048" cy="256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Validate the token.</a:t>
            </a:r>
          </a:p>
          <a:p>
            <a:pPr>
              <a:spcAft>
                <a:spcPts val="5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Evaluate object policy.</a:t>
            </a:r>
          </a:p>
          <a:p>
            <a:pPr>
              <a:spcAft>
                <a:spcPts val="5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Deny even after approval.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31536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96451"/>
                </a:solidFill>
                <a:latin typeface="Calibri"/>
              </a:defRPr>
            </a:pPr>
            <a:r>
              <a:t>Annotation tampering -&gt; R003 / POLICY_MISSING_SCOPE</a:t>
            </a:r>
          </a:p>
        </p:txBody>
      </p:sp>
      <p:sp>
        <p:nvSpPr>
          <p:cNvPr id="3" name="Slide footer"/>
          <p:cNvSpPr txBox="1"/>
          <p:nvPr/>
        </p:nvSpPr>
        <p:spPr>
          <a:xfrm>
            <a:off x="548640" y="6007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BACKUP  |  CLIENT BEHAVIOR IS NOT SERVER EVIDENCE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1045952" y="60076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8352F"/>
                </a:solidFill>
                <a:latin typeface="Calibri"/>
              </a:defRPr>
            </a:pPr>
            <a:r>
              <a:t>A genuine token can be wrong for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3474720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892808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Token intended for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569464"/>
            <a:ext cx="4956048" cy="256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aud:</a:t>
            </a:r>
          </a:p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api://refund-mcp-b</a:t>
            </a:r>
          </a:p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Presented to Resource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394960" cy="3474720"/>
          </a:xfrm>
          <a:prstGeom prst="roundRect">
            <a:avLst>
              <a:gd name="adj" fmla="val 8000"/>
            </a:avLst>
          </a:prstGeom>
          <a:solidFill>
            <a:srgbClr val="18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1892808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 rejects before dispatch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2569464"/>
            <a:ext cx="4956048" cy="256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HTTP 401</a:t>
            </a:r>
          </a:p>
          <a:p>
            <a:pPr>
              <a:spcAft>
                <a:spcPts val="5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AUTH_WRONG_AUDIENCE</a:t>
            </a:r>
          </a:p>
          <a:p>
            <a:pPr>
              <a:spcAft>
                <a:spcPts val="5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Ledger unchanged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31536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96451"/>
                </a:solidFill>
                <a:latin typeface="Calibri"/>
              </a:defRPr>
            </a:pPr>
            <a:r>
              <a:t>B-token acceptance: integration-test assertion, not rerun here.</a:t>
            </a:r>
          </a:p>
        </p:txBody>
      </p:sp>
      <p:sp>
        <p:nvSpPr>
          <p:cNvPr id="3" name="Slide footer"/>
          <p:cNvSpPr txBox="1"/>
          <p:nvPr/>
        </p:nvSpPr>
        <p:spPr>
          <a:xfrm>
            <a:off x="548640" y="6007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BACKUP  |  EXPECTED EXCHANGE; CONTROL STATUS IN NOTES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1045952" y="60076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8352F"/>
                </a:solidFill>
                <a:latin typeface="Calibri"/>
              </a:defRPr>
            </a:pPr>
            <a:r>
              <a:t>Do not become the confused deputy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3474720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892808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Sam 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569464"/>
            <a:ext cx="4956048" cy="256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Has Refunds.Write.</a:t>
            </a:r>
          </a:p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Targets Riley's ORD-1003.</a:t>
            </a:r>
          </a:p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amount_minor=99000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394960" cy="3474720"/>
          </a:xfrm>
          <a:prstGeom prst="roundRect">
            <a:avLst>
              <a:gd name="adj" fmla="val 8000"/>
            </a:avLst>
          </a:prstGeom>
          <a:solidFill>
            <a:srgbClr val="18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1892808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Resource A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2569464"/>
            <a:ext cx="4956048" cy="256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R006</a:t>
            </a:r>
          </a:p>
          <a:p>
            <a:pPr>
              <a:spcAft>
                <a:spcPts val="5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POLICY_ORDER_NOT_ASSIGNED</a:t>
            </a:r>
          </a:p>
          <a:p>
            <a:pPr>
              <a:spcAft>
                <a:spcPts val="5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Ledger unchanged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31536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96451"/>
                </a:solidFill>
                <a:latin typeface="Calibri"/>
              </a:defRPr>
            </a:pPr>
            <a:r>
              <a:t>Ownership is checked BEFORE the amount ceiling.</a:t>
            </a:r>
          </a:p>
        </p:txBody>
      </p:sp>
      <p:sp>
        <p:nvSpPr>
          <p:cNvPr id="3" name="Slide footer"/>
          <p:cNvSpPr txBox="1"/>
          <p:nvPr/>
        </p:nvSpPr>
        <p:spPr>
          <a:xfrm>
            <a:off x="548640" y="6007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BACKUP  |  EXPECTED DENIAL; NOT A CAPTURED RUN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1045952" y="60076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8352F"/>
                </a:solidFill>
                <a:latin typeface="Calibri"/>
              </a:defRPr>
            </a:pPr>
            <a:r>
              <a:t>Force the call. Keep the boundary.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94360" cy="594360"/>
          </a:xfrm>
          <a:prstGeom prst="roundRect">
            <a:avLst>
              <a:gd name="adj" fmla="val 8000"/>
            </a:avLst>
          </a:prstGeom>
          <a:solidFill>
            <a:srgbClr val="196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3619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08760"/>
            <a:ext cx="388620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Untrusted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150876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ORD-1005: attacker-written notes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594360" cy="594360"/>
          </a:xfrm>
          <a:prstGeom prst="roundRect">
            <a:avLst>
              <a:gd name="adj" fmla="val 8000"/>
            </a:avLst>
          </a:prstGeom>
          <a:solidFill>
            <a:srgbClr val="196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54203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514600"/>
            <a:ext cx="388620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Advisory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51460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Model / filter / offline outcome is reported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20440"/>
            <a:ext cx="594360" cy="594360"/>
          </a:xfrm>
          <a:prstGeom prst="roundRect">
            <a:avLst>
              <a:gd name="adj" fmla="val 8000"/>
            </a:avLst>
          </a:prstGeom>
          <a:solidFill>
            <a:srgbClr val="196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54787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520440"/>
            <a:ext cx="388620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Forced harness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352044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Sam -&gt; ORD-1003, amount_minor=99000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26280"/>
            <a:ext cx="594360" cy="594360"/>
          </a:xfrm>
          <a:prstGeom prst="roundRect">
            <a:avLst>
              <a:gd name="adj" fmla="val 8000"/>
            </a:avLst>
          </a:prstGeom>
          <a:solidFill>
            <a:srgbClr val="196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55371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526280"/>
            <a:ext cx="388620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Deterministic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52628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R006 denies; ledger remains unchanged</a:t>
            </a:r>
          </a:p>
        </p:txBody>
      </p:sp>
      <p:sp>
        <p:nvSpPr>
          <p:cNvPr id="3" name="Slide footer"/>
          <p:cNvSpPr txBox="1"/>
          <p:nvPr/>
        </p:nvSpPr>
        <p:spPr>
          <a:xfrm>
            <a:off x="548640" y="6007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BACKUP  |  FORCED HARNESS REPLAY - NOT MODEL AUTONOMY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1045952" y="60076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8352F"/>
                </a:solidFill>
                <a:latin typeface="Calibri"/>
              </a:defRPr>
            </a:pPr>
            <a:r>
              <a:t>Three assessment outcomes. One policy.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566160" cy="3474720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938528"/>
            <a:ext cx="312724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Model answered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615184"/>
            <a:ext cx="3127248" cy="256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18352F"/>
                </a:solidFill>
                <a:latin typeface="Calibri"/>
              </a:defRPr>
            </a:pPr>
            <a:r>
              <a:t>live: true</a:t>
            </a:r>
          </a:p>
          <a:p>
            <a:pPr>
              <a:spcAft>
                <a:spcPts val="500"/>
              </a:spcAft>
              <a:defRPr sz="2800" b="0">
                <a:solidFill>
                  <a:srgbClr val="18352F"/>
                </a:solidFill>
                <a:latin typeface="Calibri"/>
              </a:defRPr>
            </a:pPr>
            <a:r>
              <a:t>Advisory text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737360"/>
            <a:ext cx="3566160" cy="3474720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938528"/>
            <a:ext cx="312724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Platform filtered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615184"/>
            <a:ext cx="3127248" cy="256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18352F"/>
                </a:solidFill>
                <a:latin typeface="Calibri"/>
              </a:defRPr>
            </a:pPr>
            <a:r>
              <a:t>filtered: true</a:t>
            </a:r>
          </a:p>
          <a:p>
            <a:pPr>
              <a:spcAft>
                <a:spcPts val="500"/>
              </a:spcAft>
              <a:defRPr sz="2800" b="0">
                <a:solidFill>
                  <a:srgbClr val="18352F"/>
                </a:solidFill>
                <a:latin typeface="Calibri"/>
              </a:defRPr>
            </a:pPr>
            <a:r>
              <a:t>live: false</a:t>
            </a:r>
          </a:p>
          <a:p>
            <a:pPr>
              <a:spcAft>
                <a:spcPts val="500"/>
              </a:spcAft>
              <a:defRPr sz="2800" b="0">
                <a:solidFill>
                  <a:srgbClr val="18352F"/>
                </a:solidFill>
                <a:latin typeface="Calibri"/>
              </a:defRPr>
            </a:pPr>
            <a:r>
              <a:t>Not model refusal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737360"/>
            <a:ext cx="3566160" cy="3474720"/>
          </a:xfrm>
          <a:prstGeom prst="roundRect">
            <a:avLst>
              <a:gd name="adj" fmla="val 8000"/>
            </a:avLst>
          </a:prstGeom>
          <a:solidFill>
            <a:srgbClr val="18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1938528"/>
            <a:ext cx="312724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Offline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5" y="2615184"/>
            <a:ext cx="3127248" cy="256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live: false</a:t>
            </a:r>
          </a:p>
          <a:p>
            <a:pPr>
              <a:spcAft>
                <a:spcPts val="5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Explicit offline label</a:t>
            </a:r>
          </a:p>
          <a:p>
            <a:pPr>
              <a:spcAft>
                <a:spcPts val="500"/>
              </a:spcAft>
              <a:defRPr sz="2800" b="0">
                <a:solidFill>
                  <a:srgbClr val="FFFFFF"/>
                </a:solidFill>
                <a:latin typeface="Calibri"/>
              </a:defRPr>
            </a:pPr>
            <a:r>
              <a:t>No generated advice</a:t>
            </a:r>
          </a:p>
        </p:txBody>
      </p:sp>
      <p:sp>
        <p:nvSpPr>
          <p:cNvPr id="3" name="Slide footer"/>
          <p:cNvSpPr txBox="1"/>
          <p:nvPr/>
        </p:nvSpPr>
        <p:spPr>
          <a:xfrm>
            <a:off x="548640" y="6007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BACKUP  |  MODES, NOT THREE NEW INFERENCE RESULTS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1045952" y="60076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8352F"/>
                </a:solidFill>
                <a:latin typeface="Calibri"/>
              </a:defRPr>
            </a:pPr>
            <a:r>
              <a:t>Audit is evidence, not enforcement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94960" cy="3474720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55648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Allowed refund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432304"/>
            <a:ext cx="4956048" cy="256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identity_state: validated</a:t>
            </a:r>
          </a:p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policy_rule_id: R299</a:t>
            </a:r>
          </a:p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decision: allow</a:t>
            </a:r>
          </a:p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upstream_status: 201</a:t>
            </a:r>
          </a:p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ledger_changed: true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3474720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1755648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Rejected token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2432304"/>
            <a:ext cx="4956048" cy="256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identity_state: untrusted</a:t>
            </a:r>
          </a:p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reason: wrong audience</a:t>
            </a:r>
          </a:p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decision: deny</a:t>
            </a:r>
          </a:p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No user attributed</a:t>
            </a:r>
          </a:p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ledger_changed: 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7667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96451"/>
                </a:solidFill>
                <a:latin typeface="Calibri"/>
              </a:defRPr>
            </a:pPr>
            <a:r>
              <a:t>Request -&gt; user -&gt; client -&gt; resource -&gt; policy -&gt; result</a:t>
            </a:r>
          </a:p>
        </p:txBody>
      </p:sp>
      <p:sp>
        <p:nvSpPr>
          <p:cNvPr id="3" name="Slide footer"/>
          <p:cNvSpPr txBox="1"/>
          <p:nvPr/>
        </p:nvSpPr>
        <p:spPr>
          <a:xfrm>
            <a:off x="548640" y="6007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RECORDED EXCERPTS  |  docs/APPENDIX.md B  |  2026-09-14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1045952" y="60076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8352F"/>
                </a:solidFill>
                <a:latin typeface="Calibri"/>
              </a:defRPr>
            </a:pPr>
            <a:r>
              <a:t>Run it four ways. Keep one policy.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18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55648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1  Local scripts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432304"/>
            <a:ext cx="495604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PowerShell is the stage default.</a:t>
            </a:r>
          </a:p>
          <a:p>
            <a:pPr>
              <a:spcAft>
                <a:spcPts val="500"/>
              </a:spcAft>
              <a:defRPr sz="2400" b="0">
                <a:solidFill>
                  <a:srgbClr val="FFFFFF"/>
                </a:solidFill>
                <a:latin typeface="Calibri"/>
              </a:defRPr>
            </a:pPr>
            <a:r>
              <a:t>Bash twins are available.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1755648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2  Scripts + browser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2432304"/>
            <a:ext cx="495604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Run -&gt; result -&gt; ledger -&gt; audit</a:t>
            </a:r>
          </a:p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Reporting, not authorization.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1188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3813048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3  Docker Compose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489704"/>
            <a:ext cx="495604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Five local containers.</a:t>
            </a:r>
          </a:p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Recorded rehearsal, not rerun.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61188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3813048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4  AKS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4489704"/>
            <a:ext cx="495604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Recorded cloud rehearsal.</a:t>
            </a:r>
          </a:p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Not a production template.</a:t>
            </a:r>
          </a:p>
        </p:txBody>
      </p:sp>
      <p:sp>
        <p:nvSpPr>
          <p:cNvPr id="3" name="Slide footer"/>
          <p:cNvSpPr txBox="1"/>
          <p:nvPr/>
        </p:nvSpPr>
        <p:spPr>
          <a:xfrm>
            <a:off x="548640" y="6007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BACKUP  |  HOSTING OPTIONS - NOT A DEPLOYMENT TUTORIAL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1045952" y="60076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8352F"/>
                </a:solidFill>
                <a:latin typeface="Calibri"/>
              </a:defRPr>
            </a:pPr>
            <a:r>
              <a:t>The rest of the seven-rule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94360" cy="594360"/>
          </a:xfrm>
          <a:prstGeom prst="roundRect">
            <a:avLst>
              <a:gd name="adj" fmla="val 8000"/>
            </a:avLst>
          </a:prstGeom>
          <a:solidFill>
            <a:srgbClr val="196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3619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08760"/>
            <a:ext cx="388620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Exchange downstream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150876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Preserve the human; fail closed.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594360" cy="594360"/>
          </a:xfrm>
          <a:prstGeom prst="roundRect">
            <a:avLst>
              <a:gd name="adj" fmla="val 8000"/>
            </a:avLst>
          </a:prstGeom>
          <a:solidFill>
            <a:srgbClr val="196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54203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514600"/>
            <a:ext cx="388620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Treat annotations as hints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51460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Documentation does not grant permission.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20440"/>
            <a:ext cx="594360" cy="594360"/>
          </a:xfrm>
          <a:prstGeom prst="roundRect">
            <a:avLst>
              <a:gd name="adj" fmla="val 8000"/>
            </a:avLst>
          </a:prstGeom>
          <a:solidFill>
            <a:srgbClr val="196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54787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520440"/>
            <a:ext cx="388620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Keep advice non-authoritative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352044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Untrusted text cannot widen authorization.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26280"/>
            <a:ext cx="594360" cy="594360"/>
          </a:xfrm>
          <a:prstGeom prst="roundRect">
            <a:avLst>
              <a:gd name="adj" fmla="val 8000"/>
            </a:avLst>
          </a:prstGeom>
          <a:solidFill>
            <a:srgbClr val="196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55371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526280"/>
            <a:ext cx="388620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Audit where you 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52628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Include denials; pseudonymize; deny by default.</a:t>
            </a:r>
          </a:p>
        </p:txBody>
      </p:sp>
      <p:sp>
        <p:nvSpPr>
          <p:cNvPr id="3" name="Slide footer"/>
          <p:cNvSpPr txBox="1"/>
          <p:nvPr/>
        </p:nvSpPr>
        <p:spPr>
          <a:xfrm>
            <a:off x="548640" y="6007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BACKUP  |  COMPLEMENTS THE THREE RULES ON SLIDE 5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1045952" y="60076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8352F"/>
                </a:solidFill>
                <a:latin typeface="Calibri"/>
              </a:defRPr>
            </a:pPr>
            <a:r>
              <a:t>What was recorded. What remains open.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3474720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892808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Recorded rehearsals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569464"/>
            <a:ext cx="4956048" cy="256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Local scripts + browser</a:t>
            </a:r>
          </a:p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Compose + AKS</a:t>
            </a:r>
          </a:p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Live Foundry advice</a:t>
            </a:r>
          </a:p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Platform filtering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91640"/>
            <a:ext cx="5394960" cy="3474720"/>
          </a:xfrm>
          <a:prstGeom prst="roundRect">
            <a:avLst>
              <a:gd name="adj" fmla="val 8000"/>
            </a:avLst>
          </a:prstGeom>
          <a:solidFill>
            <a:srgbClr val="E6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1892808"/>
            <a:ext cx="495604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Not established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2569464"/>
            <a:ext cx="4956048" cy="256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Entra authentication</a:t>
            </a:r>
          </a:p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AKS workload identity</a:t>
            </a:r>
          </a:p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Separate Bicep deployment</a:t>
            </a:r>
          </a:p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Live client approval / KQL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31536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96451"/>
                </a:solidFill>
                <a:latin typeface="Calibri"/>
              </a:defRPr>
            </a:pPr>
            <a:r>
              <a:t>No tamper-proof log, stolen-token replay defense, or production claim.</a:t>
            </a:r>
          </a:p>
        </p:txBody>
      </p:sp>
      <p:sp>
        <p:nvSpPr>
          <p:cNvPr id="3" name="Slide footer"/>
          <p:cNvSpPr txBox="1"/>
          <p:nvPr/>
        </p:nvSpPr>
        <p:spPr>
          <a:xfrm>
            <a:off x="548640" y="6007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BACKUP  |  HISTORICAL VERIFICATION IS NOT A NEW RUN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1045952" y="60076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75488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8352F"/>
                </a:solidFill>
                <a:latin typeface="Calibri"/>
              </a:defRPr>
            </a:pPr>
            <a:r>
              <a:t>References for the next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94360" cy="594360"/>
          </a:xfrm>
          <a:prstGeom prst="roundRect">
            <a:avLst>
              <a:gd name="adj" fmla="val 8000"/>
            </a:avLst>
          </a:prstGeom>
          <a:solidFill>
            <a:srgbClr val="196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3619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08760"/>
            <a:ext cx="388620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MCP authorization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150876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Protected resources and security boundaries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594360" cy="594360"/>
          </a:xfrm>
          <a:prstGeom prst="roundRect">
            <a:avLst>
              <a:gd name="adj" fmla="val 8000"/>
            </a:avLst>
          </a:prstGeom>
          <a:solidFill>
            <a:srgbClr val="196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54203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514600"/>
            <a:ext cx="388620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Discovery + PKCE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51460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RFC 9728 / RFC 8414 / RFC 7636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20440"/>
            <a:ext cx="594360" cy="594360"/>
          </a:xfrm>
          <a:prstGeom prst="roundRect">
            <a:avLst>
              <a:gd name="adj" fmla="val 8000"/>
            </a:avLst>
          </a:prstGeom>
          <a:solidFill>
            <a:srgbClr val="196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54787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520440"/>
            <a:ext cx="388620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Resource binding + delegation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352044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RFC 8707 / RFC 7523 / Microsoft OBO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26280"/>
            <a:ext cx="594360" cy="594360"/>
          </a:xfrm>
          <a:prstGeom prst="roundRect">
            <a:avLst>
              <a:gd name="adj" fmla="val 8000"/>
            </a:avLst>
          </a:prstGeom>
          <a:solidFill>
            <a:srgbClr val="196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55371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526280"/>
            <a:ext cx="3886200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8352F"/>
                </a:solidFill>
                <a:latin typeface="Calibri"/>
              </a:defRPr>
            </a:pPr>
            <a:r>
              <a:t>Implementation + control map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52628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8352F"/>
                </a:solidFill>
                <a:latin typeface="Calibri"/>
              </a:defRPr>
            </a:pPr>
            <a:r>
              <a:t>github.com/bbenz/mcp-tool-calling</a:t>
            </a:r>
          </a:p>
        </p:txBody>
      </p:sp>
      <p:sp>
        <p:nvSpPr>
          <p:cNvPr id="3" name="Slide footer"/>
          <p:cNvSpPr txBox="1"/>
          <p:nvPr/>
        </p:nvSpPr>
        <p:spPr>
          <a:xfrm>
            <a:off x="548640" y="6007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BACKUP  |  PUBLIC REFERENCES; FULL LINKS IN NOTES / GUIDE</a:t>
            </a:r>
          </a:p>
        </p:txBody>
      </p:sp>
      <p:sp>
        <p:nvSpPr>
          <p:cNvPr id="4" name="Slide number"/>
          <p:cNvSpPr txBox="1"/>
          <p:nvPr/>
        </p:nvSpPr>
        <p:spPr>
          <a:xfrm>
            <a:off x="11045952" y="60076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475B55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Can Call This MCP Tool? OAuth, Resource Binding, and Runtime Policy</dc:title>
  <dc:subject>MCP Dev Summit Toronto 2026 - demo-first control map</dc:subject>
  <dc:creator>Brian Benz</dc:creator>
  <cp:keywords>MCP, OAuth, runtime authorization, synthetic refund demo</cp:keywords>
  <dc:description>Generated from reviewed local sources; no live demo executed.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