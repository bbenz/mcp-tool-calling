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1 - 00:00-02:00. Stop-time 02:00. Window: Slides.</a:t>
            </a:r>
          </a:p>
          <a:p/>
          <a:p>
            <a:r>
              <a:t>Start the timer at your first word. Do not demo here, and do not apologise for the size of the topic.</a:t>
            </a:r>
          </a:p>
          <a:p/>
          <a:p>
            <a:r>
              <a:t>NEXT WINDOW: stay on slides through slide 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1 - 00:00-02:00. Stop-time 02:00. Window: Slides.</a:t>
            </a:r>
          </a:p>
          <a:p/>
          <a:p>
            <a:r>
              <a:t>"It works - the model calls it, money moves, everyone's happy. Then someone asks the question in the title: who can call this tool?"</a:t>
            </a:r>
          </a:p>
          <a:p/>
          <a:p>
            <a:r>
              <a:t>Those are three real things. None of them is an answer to the question.</a:t>
            </a:r>
          </a:p>
          <a:p/>
          <a:p>
            <a:r>
              <a:t>NEXT WINDOW: stay on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1 - 00:00-02:00. Stop-time 02:00. Window: Slides.</a:t>
            </a:r>
          </a:p>
          <a:p/>
          <a:p>
            <a:r>
              <a:t>Three different things, and we keep using them interchangeably.</a:t>
            </a:r>
          </a:p>
          <a:p/>
          <a:p>
            <a:r>
              <a:t>Authentication is who are you - the authorization server answers that. Approval is did the human mean it - the client answers that, on the user's machine, in software you don't control. Authorization is is this principal allowed to do this specific thing to this specific object, right now. Nobody answers that unless you write it.</a:t>
            </a:r>
          </a:p>
          <a:p/>
          <a:p>
            <a:r>
              <a:t>LOAD-BEARING: "Authentication, approval, and authorization are three different questions. Only one of them is yours to answer."</a:t>
            </a:r>
          </a:p>
          <a:p/>
          <a:p>
            <a:r>
              <a:t>NEXT WINDOW: slide 4, then Terminal 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1 - 00:00-02:00. Stop-time 02:00. Window: Slides.</a:t>
            </a:r>
          </a:p>
          <a:p/>
          <a:p>
            <a:r>
              <a:t>Everything red is outside your trust boundary even though it is part of your system. The client is red - it runs on someone else's laptop. The model is red - it reads text that attackers can write.</a:t>
            </a:r>
          </a:p>
          <a:p/>
          <a:p>
            <a:r>
              <a:t>Flow, if asked: client discovers the authorization server, gets an audience-bound token, calls the MCP server. The MCP server decides, then exchanges its token on-behalf-of for the upstream API, which re-checks and writes the ledger.</a:t>
            </a:r>
          </a:p>
          <a:p/>
          <a:p>
            <a:r>
              <a:t>"Twenty-two minutes, a refund API, and a small synthetic ledger."</a:t>
            </a:r>
          </a:p>
          <a:p/>
          <a:p>
            <a:r>
              <a:t>NEXT WINDOW: Terminal A. Nineteen minutes of terminal from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6 - 20:00-23:00. Stop-time 23:00. Window: Slides.</a:t>
            </a:r>
          </a:p>
          <a:p/>
          <a:p>
            <a:r>
              <a:t>Five layers, and they are not interchangeable. The client owns approval - that's the user's control, and it isn't yours. The authorization server owns authentication and audience binding. The MCP server owns the decision, and that one is yours, and nobody else can do it for you. The upstream API re-checks, because it shouldn't trust its callers either. The model owns nothing - it advises.</a:t>
            </a:r>
          </a:p>
          <a:p/>
          <a:p>
            <a:r>
              <a:t>LOAD-BEARING: "If a model's refusal is your security boundary, your security boundary is a probability distribution."</a:t>
            </a:r>
          </a:p>
          <a:p/>
          <a:p>
            <a:r>
              <a:t>NEXT WINDOW: stay on slides to the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6 - 20:00-23:00. Stop-time 23:00. Window: Slides.</a:t>
            </a:r>
          </a:p>
          <a:p/>
          <a:p>
            <a:r>
              <a:t>Say it slowly. This is the answer the talk exists to deliver. Let it sit before moving on.</a:t>
            </a:r>
          </a:p>
          <a:p/>
          <a:p>
            <a:r>
              <a:t>NEXT WINDOW: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6 - 20:00-23:00. Stop-time 23:00. Window: Slides.</a:t>
            </a:r>
          </a:p>
          <a:p/>
          <a:p>
            <a:r>
              <a:t>"Seven things to take home. If you remember three: bind every token to one resource. Scopes are verbs, not objects. Assume Approve was clicked, and decide anyway." Those three are numbered 1-3 and set in black; the rest are grey.</a:t>
            </a:r>
          </a:p>
          <a:p/>
          <a:p>
            <a:r>
              <a:t>LOAD-BEARING, verbatim on this slide: rule 2 (a scope is a verb), rule 4 (never forward an incoming token), rule 5 (annotations are hints).</a:t>
            </a:r>
          </a:p>
          <a:p/>
          <a:p>
            <a:r>
              <a:t>NEXT WINDOW: slide 8 and leave it up for Q&amp;A.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7 - 23:00-25:00. Stop-time 25:00. Window: Slides.</a:t>
            </a:r>
          </a:p>
          <a:p/>
          <a:p>
            <a:r>
              <a:t>Leave this up for the whole of Q&amp;A. The control map is the answer to most questions, and the repository link is what the room wants during exactly these two minutes.</a:t>
            </a:r>
          </a:p>
          <a:p/>
          <a:p>
            <a:r>
              <a:t>PLACEHOLDER: the repository URL and its QR code are https://github.com/&lt;owner&gt;/&lt;repo&gt; and must be replaced before the event.</a:t>
            </a:r>
          </a:p>
          <a:p/>
          <a:p>
            <a:r>
              <a:t>Prepared answers are in docs/RUNBOOK.md: why scopes are insufficient; why a dialog is not authorization; why you cannot forward the token; why a local IdP; whether the log is tamper-proof.</a:t>
            </a:r>
          </a:p>
          <a:p/>
          <a:p>
            <a:r>
              <a:t>NEXT WINDOW: none. This is the last visible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6/7 - optional, 20:00-25:00. Window: Slides.</a:t>
            </a:r>
          </a:p>
          <a:p/>
          <a:p>
            <a:r>
              <a:t>Use this if the room is sceptical or if a question probes what was actually demonstrated. It is also a good Q&amp;A backdrop.</a:t>
            </a:r>
          </a:p>
          <a:p/>
          <a:p>
            <a:r>
              <a:t>Say platform, not model, for the content filter. Two independent layers declined the injected content and neither is what stops the refund.</a:t>
            </a:r>
          </a:p>
          <a:p/>
          <a:p>
            <a:r>
              <a:t>NEXT WINDOW: back to slide 8 for Q&amp;A.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7 - optional, 23:00-25:00. Window: Slides.</a:t>
            </a:r>
          </a:p>
          <a:p/>
          <a:p>
            <a:r>
              <a:t>Everything runs locally in about ten minutes, with no Azure subscription and no Entra tenant.</a:t>
            </a:r>
          </a:p>
          <a:p/>
          <a:p>
            <a:r>
              <a:t>PLACEHOLDER: replace the repository URL before the event.</a:t>
            </a:r>
          </a:p>
          <a:p/>
          <a:p>
            <a:r>
              <a:t>NEXT WINDOW: back to slide 8 for Q&amp;A.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`no-token  +  discovery`.</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`allowed-refund`.</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`scope-denial`.</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`wrong-audience`.</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`ownership-denial`.</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`prompt-injection`.</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FALLBACK for scenario `audit record`.</a:t>
            </a:r>
          </a:p>
          <a:p/>
          <a:p>
            <a:r>
              <a:t>Use only if the terminal is unavailable. Read the expected evidence aloud and say plainly that you are reading prepared evidence rather than showing a live run.</a:t>
            </a:r>
          </a:p>
          <a:p/>
          <a:p>
            <a:r>
              <a:t>Source: docs/COVERAGE-MATRIX.md and docs/RUNBOOK.md degradation ladder (Tier 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74519"/>
            <a:ext cx="11094415" cy="2926080"/>
          </a:xfrm>
          <a:prstGeom prst="rect">
            <a:avLst/>
          </a:prstGeom>
          <a:noFill/>
        </p:spPr>
        <p:txBody>
          <a:bodyPr wrap="square" lIns="0" rIns="0" tIns="0" bIns="0">
            <a:spAutoFit/>
          </a:bodyPr>
          <a:lstStyle/>
          <a:p>
            <a:pPr>
              <a:spcAft>
                <a:spcPts val="1400"/>
              </a:spcAft>
            </a:pPr>
            <a:r>
              <a:rPr sz="5400" b="1" i="0">
                <a:solidFill>
                  <a:srgbClr val="111827"/>
                </a:solidFill>
                <a:latin typeface="Segoe UI"/>
              </a:rPr>
              <a:t>Who Can Call This MCP Tool?</a:t>
            </a:r>
          </a:p>
          <a:p>
            <a:pPr>
              <a:spcAft>
                <a:spcPts val="3400"/>
              </a:spcAft>
            </a:pPr>
            <a:r>
              <a:rPr sz="3200" b="0" i="0">
                <a:solidFill>
                  <a:srgbClr val="374151"/>
                </a:solidFill>
                <a:latin typeface="Segoe UI"/>
              </a:rPr>
              <a:t>OAuth, Resource Binding, and Runtime Policy</a:t>
            </a:r>
          </a:p>
          <a:p>
            <a:pPr>
              <a:spcAft>
                <a:spcPts val="600"/>
              </a:spcAft>
            </a:pPr>
            <a:r>
              <a:rPr sz="2800" b="1" i="0">
                <a:solidFill>
                  <a:srgbClr val="111827"/>
                </a:solidFill>
                <a:latin typeface="Segoe UI"/>
              </a:rPr>
              <a:t>Brian Benz</a:t>
            </a:r>
          </a:p>
          <a:p>
            <a:pPr>
              <a:spcAft>
                <a:spcPts val="1000"/>
              </a:spcAft>
            </a:pPr>
            <a:r>
              <a:rPr sz="2600" b="0" i="0">
                <a:solidFill>
                  <a:srgbClr val="374151"/>
                </a:solidFill>
                <a:latin typeface="Segoe UI"/>
              </a:rPr>
              <a:t>MCP Dev Summit Toronto  ·  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Someone builds an MCP server</a:t>
            </a:r>
          </a:p>
        </p:txBody>
      </p:sp>
      <p:sp>
        <p:nvSpPr>
          <p:cNvPr id="3" name="TextBox 2"/>
          <p:cNvSpPr txBox="1"/>
          <p:nvPr/>
        </p:nvSpPr>
        <p:spPr>
          <a:xfrm>
            <a:off x="548640" y="1600200"/>
            <a:ext cx="11094415" cy="1828800"/>
          </a:xfrm>
          <a:prstGeom prst="rect">
            <a:avLst/>
          </a:prstGeom>
          <a:noFill/>
        </p:spPr>
        <p:txBody>
          <a:bodyPr wrap="square" lIns="0" rIns="0" tIns="0" bIns="0">
            <a:spAutoFit/>
          </a:bodyPr>
          <a:lstStyle/>
          <a:p>
            <a:pPr>
              <a:spcAft>
                <a:spcPts val="1600"/>
              </a:spcAft>
            </a:pPr>
            <a:r>
              <a:rPr sz="2800" b="0" i="0">
                <a:solidFill>
                  <a:srgbClr val="111827"/>
                </a:solidFill>
                <a:latin typeface="Segoe UI"/>
              </a:rPr>
              <a:t>It has a tool called </a:t>
            </a:r>
            <a:r>
              <a:rPr sz="2800" b="0" i="0">
                <a:solidFill>
                  <a:srgbClr val="111827"/>
                </a:solidFill>
                <a:latin typeface="Consolas"/>
              </a:rPr>
              <a:t>refund_order</a:t>
            </a:r>
            <a:r>
              <a:rPr sz="2800" b="0" i="0">
                <a:solidFill>
                  <a:srgbClr val="111827"/>
                </a:solidFill>
                <a:latin typeface="Segoe UI"/>
              </a:rPr>
              <a:t>. It works. Money moves.</a:t>
            </a:r>
          </a:p>
          <a:p>
            <a:pPr>
              <a:spcAft>
                <a:spcPts val="0"/>
              </a:spcAft>
            </a:pPr>
            <a:r>
              <a:rPr sz="2800" b="1" i="0">
                <a:solidFill>
                  <a:srgbClr val="111827"/>
                </a:solidFill>
                <a:latin typeface="Segoe UI"/>
              </a:rPr>
              <a:t>Then someone asks: who can call this tool?</a:t>
            </a:r>
          </a:p>
        </p:txBody>
      </p:sp>
      <p:sp>
        <p:nvSpPr>
          <p:cNvPr id="4" name="TextBox 3"/>
          <p:cNvSpPr txBox="1"/>
          <p:nvPr/>
        </p:nvSpPr>
        <p:spPr>
          <a:xfrm>
            <a:off x="914400" y="3566160"/>
            <a:ext cx="10424160" cy="1463040"/>
          </a:xfrm>
          <a:prstGeom prst="rect">
            <a:avLst/>
          </a:prstGeom>
          <a:noFill/>
        </p:spPr>
        <p:txBody>
          <a:bodyPr wrap="square" lIns="0" rIns="0" tIns="0" bIns="0">
            <a:spAutoFit/>
          </a:bodyPr>
          <a:lstStyle/>
          <a:p>
            <a:pPr>
              <a:spcAft>
                <a:spcPts val="600"/>
              </a:spcAft>
            </a:pPr>
            <a:r>
              <a:rPr sz="2800" b="0" i="0">
                <a:solidFill>
                  <a:srgbClr val="374151"/>
                </a:solidFill>
                <a:latin typeface="Segoe UI"/>
              </a:rPr>
              <a:t>—  “The user signed in.”</a:t>
            </a:r>
          </a:p>
          <a:p>
            <a:pPr>
              <a:spcAft>
                <a:spcPts val="600"/>
              </a:spcAft>
            </a:pPr>
            <a:r>
              <a:rPr sz="2800" b="0" i="0">
                <a:solidFill>
                  <a:srgbClr val="374151"/>
                </a:solidFill>
                <a:latin typeface="Segoe UI"/>
              </a:rPr>
              <a:t>—  “There’s an approval dialog.”</a:t>
            </a:r>
          </a:p>
          <a:p>
            <a:pPr>
              <a:spcAft>
                <a:spcPts val="0"/>
              </a:spcAft>
            </a:pPr>
            <a:r>
              <a:rPr sz="2800" b="0" i="0">
                <a:solidFill>
                  <a:srgbClr val="374151"/>
                </a:solidFill>
                <a:latin typeface="Segoe UI"/>
              </a:rPr>
              <a:t>—  “It’s only on the internal server.”</a:t>
            </a:r>
          </a:p>
        </p:txBody>
      </p:sp>
      <p:sp>
        <p:nvSpPr>
          <p:cNvPr id="5" name="TextBox 4"/>
          <p:cNvSpPr txBox="1"/>
          <p:nvPr/>
        </p:nvSpPr>
        <p:spPr>
          <a:xfrm>
            <a:off x="548640" y="5074920"/>
            <a:ext cx="11094415" cy="640080"/>
          </a:xfrm>
          <a:prstGeom prst="rect">
            <a:avLst/>
          </a:prstGeom>
          <a:noFill/>
        </p:spPr>
        <p:txBody>
          <a:bodyPr wrap="square" lIns="0" rIns="0" tIns="0" bIns="0">
            <a:spAutoFit/>
          </a:bodyPr>
          <a:lstStyle/>
          <a:p>
            <a:pPr>
              <a:spcAft>
                <a:spcPts val="1000"/>
              </a:spcAft>
            </a:pPr>
            <a:r>
              <a:rPr sz="3200" b="1" i="0">
                <a:solidFill>
                  <a:srgbClr val="111827"/>
                </a:solidFill>
                <a:latin typeface="Segoe UI"/>
              </a:rPr>
              <a:t>None of them answers the question.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Three different questions</a:t>
            </a:r>
          </a:p>
        </p:txBody>
      </p:sp>
      <p:sp>
        <p:nvSpPr>
          <p:cNvPr id="3" name="Rounded Rectangle 2"/>
          <p:cNvSpPr/>
          <p:nvPr/>
        </p:nvSpPr>
        <p:spPr>
          <a:xfrm>
            <a:off x="548640" y="1481328"/>
            <a:ext cx="11094415" cy="950976"/>
          </a:xfrm>
          <a:prstGeom prst="roundRect">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36576" bIns="36576"/>
          <a:lstStyle/>
          <a:p>
            <a:pPr algn="l">
              <a:spcAft>
                <a:spcPts val="0"/>
              </a:spcAft>
            </a:pPr>
            <a:r>
              <a:rPr sz="2600" b="1" i="0">
                <a:solidFill>
                  <a:srgbClr val="111827"/>
                </a:solidFill>
                <a:latin typeface="Segoe UI"/>
              </a:rPr>
              <a:t>Authentication  </a:t>
            </a:r>
            <a:r>
              <a:rPr sz="2600" b="0" i="0">
                <a:solidFill>
                  <a:srgbClr val="374151"/>
                </a:solidFill>
                <a:latin typeface="Segoe UI"/>
              </a:rPr>
              <a:t>Who are you?</a:t>
            </a:r>
          </a:p>
          <a:p>
            <a:pPr algn="l">
              <a:spcBef>
                <a:spcPts val="200"/>
              </a:spcBef>
            </a:pPr>
            <a:r>
              <a:rPr sz="2400" b="0" i="0">
                <a:solidFill>
                  <a:srgbClr val="374151"/>
                </a:solidFill>
                <a:latin typeface="Segoe UI"/>
              </a:rPr>
              <a:t>The authorization server</a:t>
            </a:r>
          </a:p>
        </p:txBody>
      </p:sp>
      <p:sp>
        <p:nvSpPr>
          <p:cNvPr id="4" name="Rounded Rectangle 3"/>
          <p:cNvSpPr/>
          <p:nvPr/>
        </p:nvSpPr>
        <p:spPr>
          <a:xfrm>
            <a:off x="548640" y="2542032"/>
            <a:ext cx="11094415" cy="950976"/>
          </a:xfrm>
          <a:prstGeom prst="roundRect">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36576" bIns="36576"/>
          <a:lstStyle/>
          <a:p>
            <a:pPr algn="l">
              <a:spcAft>
                <a:spcPts val="0"/>
              </a:spcAft>
            </a:pPr>
            <a:r>
              <a:rPr sz="2600" b="1" i="0">
                <a:solidFill>
                  <a:srgbClr val="111827"/>
                </a:solidFill>
                <a:latin typeface="Segoe UI"/>
              </a:rPr>
              <a:t>Approval  </a:t>
            </a:r>
            <a:r>
              <a:rPr sz="2600" b="0" i="0">
                <a:solidFill>
                  <a:srgbClr val="374151"/>
                </a:solidFill>
                <a:latin typeface="Segoe UI"/>
              </a:rPr>
              <a:t>Did the human mean it?</a:t>
            </a:r>
          </a:p>
          <a:p>
            <a:pPr algn="l">
              <a:spcBef>
                <a:spcPts val="200"/>
              </a:spcBef>
            </a:pPr>
            <a:r>
              <a:rPr sz="2400" b="0" i="0">
                <a:solidFill>
                  <a:srgbClr val="374151"/>
                </a:solidFill>
                <a:latin typeface="Segoe UI"/>
              </a:rPr>
              <a:t>The client — not yours</a:t>
            </a:r>
          </a:p>
        </p:txBody>
      </p:sp>
      <p:sp>
        <p:nvSpPr>
          <p:cNvPr id="5" name="Rounded Rectangle 4"/>
          <p:cNvSpPr/>
          <p:nvPr/>
        </p:nvSpPr>
        <p:spPr>
          <a:xfrm>
            <a:off x="548640" y="3602736"/>
            <a:ext cx="11094415" cy="950976"/>
          </a:xfrm>
          <a:prstGeom prst="roundRect">
            <a:avLst/>
          </a:prstGeom>
          <a:solidFill>
            <a:srgbClr val="EFF6FF"/>
          </a:solidFill>
          <a:ln w="317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36576" bIns="36576"/>
          <a:lstStyle/>
          <a:p>
            <a:pPr algn="l">
              <a:spcAft>
                <a:spcPts val="0"/>
              </a:spcAft>
            </a:pPr>
            <a:r>
              <a:rPr sz="2600" b="1" i="0">
                <a:solidFill>
                  <a:srgbClr val="1E40AF"/>
                </a:solidFill>
                <a:latin typeface="Segoe UI"/>
              </a:rPr>
              <a:t>Authorization  </a:t>
            </a:r>
            <a:r>
              <a:rPr sz="2600" b="0" i="0">
                <a:solidFill>
                  <a:srgbClr val="111827"/>
                </a:solidFill>
                <a:latin typeface="Segoe UI"/>
              </a:rPr>
              <a:t>May this principal do this, to this object, now?</a:t>
            </a:r>
          </a:p>
          <a:p>
            <a:pPr algn="l">
              <a:spcBef>
                <a:spcPts val="200"/>
              </a:spcBef>
            </a:pPr>
            <a:r>
              <a:rPr sz="2400" b="1" i="0">
                <a:solidFill>
                  <a:srgbClr val="1E40AF"/>
                </a:solidFill>
                <a:latin typeface="Segoe UI"/>
              </a:rPr>
              <a:t>Nobody, unless you write it</a:t>
            </a:r>
          </a:p>
        </p:txBody>
      </p:sp>
      <p:sp>
        <p:nvSpPr>
          <p:cNvPr id="6" name="TextBox 5"/>
          <p:cNvSpPr txBox="1"/>
          <p:nvPr/>
        </p:nvSpPr>
        <p:spPr>
          <a:xfrm>
            <a:off x="548640" y="4846320"/>
            <a:ext cx="11094415" cy="859536"/>
          </a:xfrm>
          <a:prstGeom prst="rect">
            <a:avLst/>
          </a:prstGeom>
          <a:noFill/>
        </p:spPr>
        <p:txBody>
          <a:bodyPr wrap="square" lIns="0" rIns="0" tIns="0" bIns="0">
            <a:spAutoFit/>
          </a:bodyPr>
          <a:lstStyle/>
          <a:p>
            <a:pPr>
              <a:spcAft>
                <a:spcPts val="1000"/>
              </a:spcAft>
            </a:pPr>
            <a:r>
              <a:rPr sz="2400" b="1" i="0">
                <a:solidFill>
                  <a:srgbClr val="111827"/>
                </a:solidFill>
                <a:latin typeface="Segoe UI"/>
              </a:rPr>
              <a:t>Authentication, approval, and authorization are three different questions. Only one of them is yours to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Trust boundary</a:t>
            </a:r>
          </a:p>
        </p:txBody>
      </p:sp>
      <p:sp>
        <p:nvSpPr>
          <p:cNvPr id="3" name="TextBox 2"/>
          <p:cNvSpPr txBox="1"/>
          <p:nvPr/>
        </p:nvSpPr>
        <p:spPr>
          <a:xfrm>
            <a:off x="548640" y="1188720"/>
            <a:ext cx="3154680" cy="731520"/>
          </a:xfrm>
          <a:prstGeom prst="rect">
            <a:avLst/>
          </a:prstGeom>
          <a:noFill/>
        </p:spPr>
        <p:txBody>
          <a:bodyPr wrap="square" lIns="0" rIns="0" tIns="0" bIns="0" anchor="b">
            <a:spAutoFit/>
          </a:bodyPr>
          <a:lstStyle/>
          <a:p>
            <a:pPr algn="ctr"/>
            <a:r>
              <a:rPr sz="2400" b="1" i="0">
                <a:solidFill>
                  <a:srgbClr val="991B1B"/>
                </a:solidFill>
                <a:latin typeface="Segoe UI"/>
              </a:rPr>
              <a:t>Outside your trust boundary</a:t>
            </a:r>
          </a:p>
        </p:txBody>
      </p:sp>
      <p:sp>
        <p:nvSpPr>
          <p:cNvPr id="4" name="TextBox 3"/>
          <p:cNvSpPr txBox="1"/>
          <p:nvPr/>
        </p:nvSpPr>
        <p:spPr>
          <a:xfrm>
            <a:off x="4343400" y="1188720"/>
            <a:ext cx="7299655" cy="731520"/>
          </a:xfrm>
          <a:prstGeom prst="rect">
            <a:avLst/>
          </a:prstGeom>
          <a:noFill/>
        </p:spPr>
        <p:txBody>
          <a:bodyPr wrap="square" lIns="0" rIns="0" tIns="0" bIns="0" anchor="b">
            <a:spAutoFit/>
          </a:bodyPr>
          <a:lstStyle/>
          <a:p>
            <a:pPr algn="ctr"/>
            <a:r>
              <a:rPr sz="2400" b="1" i="0">
                <a:solidFill>
                  <a:srgbClr val="1E40AF"/>
                </a:solidFill>
                <a:latin typeface="Segoe UI"/>
              </a:rPr>
              <a:t>Your trust boundary</a:t>
            </a:r>
          </a:p>
        </p:txBody>
      </p:sp>
      <p:sp>
        <p:nvSpPr>
          <p:cNvPr id="5" name="Rounded Rectangle 4"/>
          <p:cNvSpPr/>
          <p:nvPr/>
        </p:nvSpPr>
        <p:spPr>
          <a:xfrm>
            <a:off x="548640" y="1956816"/>
            <a:ext cx="3154680" cy="2523744"/>
          </a:xfrm>
          <a:prstGeom prst="roundRect">
            <a:avLst/>
          </a:prstGeom>
          <a:solidFill>
            <a:srgbClr val="FEF2F2"/>
          </a:solidFill>
          <a:ln w="317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43400" y="1956816"/>
            <a:ext cx="7299655" cy="2523744"/>
          </a:xfrm>
          <a:prstGeom prst="roundRect">
            <a:avLst/>
          </a:prstGeom>
          <a:solidFill>
            <a:srgbClr val="EFF6FF"/>
          </a:solidFill>
          <a:ln w="317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54380" y="2194560"/>
            <a:ext cx="2743200" cy="859536"/>
          </a:xfrm>
          <a:prstGeom prst="roundRect">
            <a:avLst/>
          </a:prstGeom>
          <a:solidFill>
            <a:srgbClr val="FFFFFF"/>
          </a:solidFill>
          <a:ln w="28575">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2400" b="1" i="0">
                <a:solidFill>
                  <a:srgbClr val="991B1B"/>
                </a:solidFill>
                <a:latin typeface="Segoe UI"/>
              </a:rPr>
              <a:t>MCP client</a:t>
            </a:r>
          </a:p>
          <a:p>
            <a:pPr algn="ctr">
              <a:spcAft>
                <a:spcPts val="0"/>
              </a:spcAft>
            </a:pPr>
            <a:r>
              <a:rPr sz="2400" b="0" i="1">
                <a:solidFill>
                  <a:srgbClr val="991B1B"/>
                </a:solidFill>
                <a:latin typeface="Segoe UI"/>
              </a:rPr>
              <a:t>owns approval</a:t>
            </a:r>
          </a:p>
        </p:txBody>
      </p:sp>
      <p:sp>
        <p:nvSpPr>
          <p:cNvPr id="8" name="Rounded Rectangle 7"/>
          <p:cNvSpPr/>
          <p:nvPr/>
        </p:nvSpPr>
        <p:spPr>
          <a:xfrm>
            <a:off x="754380" y="3236976"/>
            <a:ext cx="2743200" cy="859536"/>
          </a:xfrm>
          <a:prstGeom prst="roundRect">
            <a:avLst/>
          </a:prstGeom>
          <a:solidFill>
            <a:srgbClr val="FFFFFF"/>
          </a:solidFill>
          <a:ln w="28575">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2400" b="1" i="0">
                <a:solidFill>
                  <a:srgbClr val="991B1B"/>
                </a:solidFill>
                <a:latin typeface="Segoe UI"/>
              </a:rPr>
              <a:t>Foundry model</a:t>
            </a:r>
          </a:p>
          <a:p>
            <a:pPr algn="ctr">
              <a:spcAft>
                <a:spcPts val="0"/>
              </a:spcAft>
            </a:pPr>
            <a:r>
              <a:rPr sz="2400" b="0" i="1">
                <a:solidFill>
                  <a:srgbClr val="991B1B"/>
                </a:solidFill>
                <a:latin typeface="Segoe UI"/>
              </a:rPr>
              <a:t>reads hostile text</a:t>
            </a:r>
          </a:p>
        </p:txBody>
      </p:sp>
      <p:sp>
        <p:nvSpPr>
          <p:cNvPr id="9" name="Rounded Rectangle 8"/>
          <p:cNvSpPr/>
          <p:nvPr/>
        </p:nvSpPr>
        <p:spPr>
          <a:xfrm>
            <a:off x="4526280" y="2194560"/>
            <a:ext cx="3337560" cy="859536"/>
          </a:xfrm>
          <a:prstGeom prst="roundRect">
            <a:avLst/>
          </a:prstGeom>
          <a:solidFill>
            <a:srgbClr val="FFFFFF"/>
          </a:solidFill>
          <a:ln w="285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2400" b="0" i="0">
                <a:solidFill>
                  <a:srgbClr val="1E40AF"/>
                </a:solidFill>
                <a:latin typeface="Segoe UI"/>
              </a:rPr>
              <a:t>Authorization server</a:t>
            </a:r>
          </a:p>
        </p:txBody>
      </p:sp>
      <p:sp>
        <p:nvSpPr>
          <p:cNvPr id="10" name="Rounded Rectangle 9"/>
          <p:cNvSpPr/>
          <p:nvPr/>
        </p:nvSpPr>
        <p:spPr>
          <a:xfrm>
            <a:off x="8110728" y="2194560"/>
            <a:ext cx="3337560" cy="859536"/>
          </a:xfrm>
          <a:prstGeom prst="roundRect">
            <a:avLst/>
          </a:prstGeom>
          <a:solidFill>
            <a:srgbClr val="FFFFFF"/>
          </a:solidFill>
          <a:ln w="285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2400" b="0" i="0">
                <a:solidFill>
                  <a:srgbClr val="1E40AF"/>
                </a:solidFill>
                <a:latin typeface="Segoe UI"/>
              </a:rPr>
              <a:t>Upstream refund API</a:t>
            </a:r>
          </a:p>
        </p:txBody>
      </p:sp>
      <p:sp>
        <p:nvSpPr>
          <p:cNvPr id="11" name="Rounded Rectangle 10"/>
          <p:cNvSpPr/>
          <p:nvPr/>
        </p:nvSpPr>
        <p:spPr>
          <a:xfrm>
            <a:off x="4526280" y="3236976"/>
            <a:ext cx="3337560" cy="859536"/>
          </a:xfrm>
          <a:prstGeom prst="roundRect">
            <a:avLst/>
          </a:prstGeom>
          <a:solidFill>
            <a:srgbClr val="1E40AF"/>
          </a:solidFill>
          <a:ln w="285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2400" b="1" i="0">
                <a:solidFill>
                  <a:srgbClr val="FFFFFF"/>
                </a:solidFill>
                <a:latin typeface="Segoe UI"/>
              </a:rPr>
              <a:t>MCP server</a:t>
            </a:r>
          </a:p>
          <a:p>
            <a:pPr algn="ctr">
              <a:spcAft>
                <a:spcPts val="0"/>
              </a:spcAft>
            </a:pPr>
            <a:r>
              <a:rPr sz="2400" b="0" i="1">
                <a:solidFill>
                  <a:srgbClr val="FFFFFF"/>
                </a:solidFill>
                <a:latin typeface="Segoe UI"/>
              </a:rPr>
              <a:t>the decision point</a:t>
            </a:r>
          </a:p>
        </p:txBody>
      </p:sp>
      <p:sp>
        <p:nvSpPr>
          <p:cNvPr id="12" name="Rounded Rectangle 11"/>
          <p:cNvSpPr/>
          <p:nvPr/>
        </p:nvSpPr>
        <p:spPr>
          <a:xfrm>
            <a:off x="8110728" y="3236976"/>
            <a:ext cx="3337560" cy="859536"/>
          </a:xfrm>
          <a:prstGeom prst="roundRect">
            <a:avLst/>
          </a:prstGeom>
          <a:solidFill>
            <a:srgbClr val="FFFFFF"/>
          </a:solidFill>
          <a:ln w="28575">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36576" bIns="36576"/>
          <a:lstStyle/>
          <a:p>
            <a:pPr algn="ctr">
              <a:spcAft>
                <a:spcPts val="0"/>
              </a:spcAft>
            </a:pPr>
            <a:r>
              <a:rPr sz="2400" b="0" i="0">
                <a:solidFill>
                  <a:srgbClr val="1E40AF"/>
                </a:solidFill>
                <a:latin typeface="Segoe UI"/>
              </a:rPr>
              <a:t>Ledger</a:t>
            </a:r>
          </a:p>
        </p:txBody>
      </p:sp>
      <p:sp>
        <p:nvSpPr>
          <p:cNvPr id="13" name="TextBox 12"/>
          <p:cNvSpPr txBox="1"/>
          <p:nvPr/>
        </p:nvSpPr>
        <p:spPr>
          <a:xfrm>
            <a:off x="548640" y="4791456"/>
            <a:ext cx="11094415" cy="822960"/>
          </a:xfrm>
          <a:prstGeom prst="rect">
            <a:avLst/>
          </a:prstGeom>
          <a:noFill/>
        </p:spPr>
        <p:txBody>
          <a:bodyPr wrap="square" lIns="0" rIns="0" tIns="0" bIns="0">
            <a:spAutoFit/>
          </a:bodyPr>
          <a:lstStyle/>
          <a:p>
            <a:pPr>
              <a:spcAft>
                <a:spcPts val="1000"/>
              </a:spcAft>
            </a:pPr>
            <a:r>
              <a:rPr sz="2400" b="1" i="0">
                <a:solidFill>
                  <a:srgbClr val="111827"/>
                </a:solidFill>
                <a:latin typeface="Segoe UI"/>
              </a:rPr>
              <a:t>Every denial prints the ledger digest before and after, so “nothing happened” is shown, not asserted.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Five layers, and who owns each</a:t>
            </a:r>
          </a:p>
        </p:txBody>
      </p:sp>
      <p:graphicFrame>
        <p:nvGraphicFramePr>
          <p:cNvPr id="3" name="Table 2"/>
          <p:cNvGraphicFramePr>
            <a:graphicFrameLocks noGrp="1"/>
          </p:cNvGraphicFramePr>
          <p:nvPr/>
        </p:nvGraphicFramePr>
        <p:xfrm>
          <a:off x="548640" y="1444752"/>
          <a:ext cx="11094415" cy="2852928"/>
        </p:xfrm>
        <a:graphic>
          <a:graphicData uri="http://schemas.openxmlformats.org/drawingml/2006/table">
            <a:tbl>
              <a:tblPr>
                <a:tableStyleId>{5C22544A-7EE6-4342-B048-85BDC9FD1C3A}</a:tableStyleId>
              </a:tblPr>
              <a:tblGrid>
                <a:gridCol w="2377440"/>
                <a:gridCol w="1645920"/>
                <a:gridCol w="3657600"/>
                <a:gridCol w="3413455"/>
              </a:tblGrid>
              <a:tr h="475488">
                <a:tc>
                  <a:txBody>
                    <a:bodyPr wrap="square"/>
                    <a:lstStyle/>
                    <a:p>
                      <a:pPr>
                        <a:spcAft>
                          <a:spcPts val="0"/>
                        </a:spcAft>
                      </a:pPr>
                      <a:r>
                        <a:rPr sz="2400" b="1" i="0">
                          <a:solidFill>
                            <a:srgbClr val="111827"/>
                          </a:solidFill>
                          <a:latin typeface="Segoe UI"/>
                        </a:rPr>
                        <a:t>Layer</a:t>
                      </a:r>
                    </a:p>
                  </a:txBody>
                  <a:tcPr marL="91440" marR="91440" marT="27432" marB="27432" anchor="ctr">
                    <a:solidFill>
                      <a:srgbClr val="F3F4F6"/>
                    </a:solidFill>
                  </a:tcPr>
                </a:tc>
                <a:tc>
                  <a:txBody>
                    <a:bodyPr wrap="square"/>
                    <a:lstStyle/>
                    <a:p>
                      <a:pPr>
                        <a:spcAft>
                          <a:spcPts val="0"/>
                        </a:spcAft>
                      </a:pPr>
                      <a:r>
                        <a:rPr sz="2400" b="1" i="0">
                          <a:solidFill>
                            <a:srgbClr val="111827"/>
                          </a:solidFill>
                          <a:latin typeface="Segoe UI"/>
                        </a:rPr>
                        <a:t>Owner</a:t>
                      </a:r>
                    </a:p>
                  </a:txBody>
                  <a:tcPr marL="91440" marR="91440" marT="27432" marB="27432" anchor="ctr">
                    <a:solidFill>
                      <a:srgbClr val="F3F4F6"/>
                    </a:solidFill>
                  </a:tcPr>
                </a:tc>
                <a:tc>
                  <a:txBody>
                    <a:bodyPr wrap="square"/>
                    <a:lstStyle/>
                    <a:p>
                      <a:pPr>
                        <a:spcAft>
                          <a:spcPts val="0"/>
                        </a:spcAft>
                      </a:pPr>
                      <a:r>
                        <a:rPr sz="2400" b="1" i="0">
                          <a:solidFill>
                            <a:srgbClr val="111827"/>
                          </a:solidFill>
                          <a:latin typeface="Segoe UI"/>
                        </a:rPr>
                        <a:t>What it denies</a:t>
                      </a:r>
                    </a:p>
                  </a:txBody>
                  <a:tcPr marL="91440" marR="91440" marT="27432" marB="27432" anchor="ctr">
                    <a:solidFill>
                      <a:srgbClr val="F3F4F6"/>
                    </a:solidFill>
                  </a:tcPr>
                </a:tc>
                <a:tc>
                  <a:txBody>
                    <a:bodyPr wrap="square"/>
                    <a:lstStyle/>
                    <a:p>
                      <a:pPr>
                        <a:spcAft>
                          <a:spcPts val="0"/>
                        </a:spcAft>
                      </a:pPr>
                      <a:r>
                        <a:rPr sz="2400" b="1" i="0">
                          <a:solidFill>
                            <a:srgbClr val="111827"/>
                          </a:solidFill>
                          <a:latin typeface="Segoe UI"/>
                        </a:rPr>
                        <a:t>Cannot answer</a:t>
                      </a:r>
                    </a:p>
                  </a:txBody>
                  <a:tcPr marL="91440" marR="91440" marT="27432" marB="27432" anchor="ctr">
                    <a:solidFill>
                      <a:srgbClr val="F3F4F6"/>
                    </a:solidFill>
                  </a:tcPr>
                </a:tc>
              </a:tr>
              <a:tr h="475488">
                <a:tc>
                  <a:txBody>
                    <a:bodyPr wrap="square"/>
                    <a:lstStyle/>
                    <a:p>
                      <a:pPr>
                        <a:spcAft>
                          <a:spcPts val="0"/>
                        </a:spcAft>
                      </a:pPr>
                      <a:r>
                        <a:rPr sz="2400" b="0" i="0">
                          <a:solidFill>
                            <a:srgbClr val="111827"/>
                          </a:solidFill>
                          <a:latin typeface="Segoe UI"/>
                        </a:rPr>
                        <a:t>MCP client</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Not you</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A declined call</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Whether they may</a:t>
                      </a:r>
                    </a:p>
                  </a:txBody>
                  <a:tcPr marL="91440" marR="91440" marT="27432" marB="27432" anchor="ctr">
                    <a:solidFill>
                      <a:srgbClr val="FFFFFF"/>
                    </a:solidFill>
                  </a:tcPr>
                </a:tc>
              </a:tr>
              <a:tr h="475488">
                <a:tc>
                  <a:txBody>
                    <a:bodyPr wrap="square"/>
                    <a:lstStyle/>
                    <a:p>
                      <a:pPr>
                        <a:spcAft>
                          <a:spcPts val="0"/>
                        </a:spcAft>
                      </a:pPr>
                      <a:r>
                        <a:rPr sz="2400" b="0" i="0">
                          <a:solidFill>
                            <a:srgbClr val="111827"/>
                          </a:solidFill>
                          <a:latin typeface="Segoe UI"/>
                        </a:rPr>
                        <a:t>Auth server</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Your IdP</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PKCE downgrade</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About this order</a:t>
                      </a:r>
                    </a:p>
                  </a:txBody>
                  <a:tcPr marL="91440" marR="91440" marT="27432" marB="27432" anchor="ctr">
                    <a:solidFill>
                      <a:srgbClr val="FFFFFF"/>
                    </a:solidFill>
                  </a:tcPr>
                </a:tc>
              </a:tr>
              <a:tr h="475488">
                <a:tc>
                  <a:txBody>
                    <a:bodyPr wrap="square"/>
                    <a:lstStyle/>
                    <a:p>
                      <a:pPr>
                        <a:spcAft>
                          <a:spcPts val="0"/>
                        </a:spcAft>
                      </a:pPr>
                      <a:r>
                        <a:rPr sz="2400" b="1" i="0">
                          <a:solidFill>
                            <a:srgbClr val="1E40AF"/>
                          </a:solidFill>
                          <a:latin typeface="Segoe UI"/>
                        </a:rPr>
                        <a:t>MCP server</a:t>
                      </a:r>
                    </a:p>
                  </a:txBody>
                  <a:tcPr marL="91440" marR="91440" marT="27432" marB="27432" anchor="ctr">
                    <a:solidFill>
                      <a:srgbClr val="EFF6FF"/>
                    </a:solidFill>
                  </a:tcPr>
                </a:tc>
                <a:tc>
                  <a:txBody>
                    <a:bodyPr wrap="square"/>
                    <a:lstStyle/>
                    <a:p>
                      <a:pPr>
                        <a:spcAft>
                          <a:spcPts val="0"/>
                        </a:spcAft>
                      </a:pPr>
                      <a:r>
                        <a:rPr sz="2400" b="1" i="0">
                          <a:solidFill>
                            <a:srgbClr val="1E40AF"/>
                          </a:solidFill>
                          <a:latin typeface="Segoe UI"/>
                        </a:rPr>
                        <a:t>You</a:t>
                      </a:r>
                    </a:p>
                  </a:txBody>
                  <a:tcPr marL="91440" marR="91440" marT="27432" marB="27432" anchor="ctr">
                    <a:solidFill>
                      <a:srgbClr val="EFF6FF"/>
                    </a:solidFill>
                  </a:tcPr>
                </a:tc>
                <a:tc>
                  <a:txBody>
                    <a:bodyPr wrap="square"/>
                    <a:lstStyle/>
                    <a:p>
                      <a:pPr>
                        <a:spcAft>
                          <a:spcPts val="0"/>
                        </a:spcAft>
                      </a:pPr>
                      <a:r>
                        <a:rPr sz="2400" b="1" i="0">
                          <a:solidFill>
                            <a:srgbClr val="1E40AF"/>
                          </a:solidFill>
                          <a:latin typeface="Segoe UI"/>
                        </a:rPr>
                        <a:t>Audience and object</a:t>
                      </a:r>
                    </a:p>
                  </a:txBody>
                  <a:tcPr marL="91440" marR="91440" marT="27432" marB="27432" anchor="ctr">
                    <a:solidFill>
                      <a:srgbClr val="EFF6FF"/>
                    </a:solidFill>
                  </a:tcPr>
                </a:tc>
                <a:tc>
                  <a:txBody>
                    <a:bodyPr wrap="square"/>
                    <a:lstStyle/>
                    <a:p>
                      <a:pPr>
                        <a:spcAft>
                          <a:spcPts val="0"/>
                        </a:spcAft>
                      </a:pPr>
                      <a:r>
                        <a:rPr sz="2400" b="1" i="0">
                          <a:solidFill>
                            <a:srgbClr val="1E40AF"/>
                          </a:solidFill>
                          <a:latin typeface="Segoe UI"/>
                        </a:rPr>
                        <a:t>Human intent</a:t>
                      </a:r>
                    </a:p>
                  </a:txBody>
                  <a:tcPr marL="91440" marR="91440" marT="27432" marB="27432" anchor="ctr">
                    <a:solidFill>
                      <a:srgbClr val="EFF6FF"/>
                    </a:solidFill>
                  </a:tcPr>
                </a:tc>
              </a:tr>
              <a:tr h="475488">
                <a:tc>
                  <a:txBody>
                    <a:bodyPr wrap="square"/>
                    <a:lstStyle/>
                    <a:p>
                      <a:pPr>
                        <a:spcAft>
                          <a:spcPts val="0"/>
                        </a:spcAft>
                      </a:pPr>
                      <a:r>
                        <a:rPr sz="2400" b="0" i="0">
                          <a:solidFill>
                            <a:srgbClr val="111827"/>
                          </a:solidFill>
                          <a:latin typeface="Segoe UI"/>
                        </a:rPr>
                        <a:t>Upstream API</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You</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A forwarded token</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Who typed it</a:t>
                      </a:r>
                    </a:p>
                  </a:txBody>
                  <a:tcPr marL="91440" marR="91440" marT="27432" marB="27432" anchor="ctr">
                    <a:solidFill>
                      <a:srgbClr val="FFFFFF"/>
                    </a:solidFill>
                  </a:tcPr>
                </a:tc>
              </a:tr>
              <a:tr h="475488">
                <a:tc>
                  <a:txBody>
                    <a:bodyPr wrap="square"/>
                    <a:lstStyle/>
                    <a:p>
                      <a:pPr>
                        <a:spcAft>
                          <a:spcPts val="0"/>
                        </a:spcAft>
                      </a:pPr>
                      <a:r>
                        <a:rPr sz="2400" b="0" i="0">
                          <a:solidFill>
                            <a:srgbClr val="111827"/>
                          </a:solidFill>
                          <a:latin typeface="Segoe UI"/>
                        </a:rPr>
                        <a:t>Foundry model</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You</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Nothing. It advises.</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Everything</a:t>
                      </a:r>
                    </a:p>
                  </a:txBody>
                  <a:tcPr marL="91440" marR="91440" marT="27432" marB="27432" anchor="ctr">
                    <a:solidFill>
                      <a:srgbClr val="FFFFFF"/>
                    </a:solidFill>
                  </a:tcPr>
                </a:tc>
              </a:tr>
            </a:tbl>
          </a:graphicData>
        </a:graphic>
      </p:graphicFrame>
      <p:sp>
        <p:nvSpPr>
          <p:cNvPr id="4" name="TextBox 3"/>
          <p:cNvSpPr txBox="1"/>
          <p:nvPr/>
        </p:nvSpPr>
        <p:spPr>
          <a:xfrm>
            <a:off x="548640" y="4681728"/>
            <a:ext cx="11094415" cy="859536"/>
          </a:xfrm>
          <a:prstGeom prst="rect">
            <a:avLst/>
          </a:prstGeom>
          <a:noFill/>
        </p:spPr>
        <p:txBody>
          <a:bodyPr wrap="square" lIns="0" rIns="0" tIns="0" bIns="0">
            <a:spAutoFit/>
          </a:bodyPr>
          <a:lstStyle/>
          <a:p>
            <a:pPr>
              <a:spcAft>
                <a:spcPts val="1000"/>
              </a:spcAft>
            </a:pPr>
            <a:r>
              <a:rPr sz="2400" b="1" i="0">
                <a:solidFill>
                  <a:srgbClr val="111827"/>
                </a:solidFill>
                <a:latin typeface="Segoe UI"/>
              </a:rPr>
              <a:t>If a model’s refusal is your security boundary, your security boundary is a probability distribution.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051560"/>
            <a:ext cx="11094415" cy="640080"/>
          </a:xfrm>
          <a:prstGeom prst="rect">
            <a:avLst/>
          </a:prstGeom>
          <a:noFill/>
        </p:spPr>
        <p:txBody>
          <a:bodyPr wrap="square" lIns="0" rIns="0" tIns="0" bIns="0">
            <a:spAutoFit/>
          </a:bodyPr>
          <a:lstStyle/>
          <a:p>
            <a:pPr>
              <a:spcAft>
                <a:spcPts val="1000"/>
              </a:spcAft>
            </a:pPr>
            <a:r>
              <a:rPr sz="3000" b="0" i="0">
                <a:solidFill>
                  <a:srgbClr val="374151"/>
                </a:solidFill>
                <a:latin typeface="Segoe UI"/>
              </a:rPr>
              <a:t>So: who can call this MCP tool?</a:t>
            </a:r>
          </a:p>
        </p:txBody>
      </p:sp>
      <p:sp>
        <p:nvSpPr>
          <p:cNvPr id="3" name="TextBox 2"/>
          <p:cNvSpPr txBox="1"/>
          <p:nvPr/>
        </p:nvSpPr>
        <p:spPr>
          <a:xfrm>
            <a:off x="548640" y="2057400"/>
            <a:ext cx="11094415" cy="3108960"/>
          </a:xfrm>
          <a:prstGeom prst="rect">
            <a:avLst/>
          </a:prstGeom>
          <a:noFill/>
        </p:spPr>
        <p:txBody>
          <a:bodyPr wrap="square" lIns="0" rIns="0" tIns="0" bIns="0">
            <a:spAutoFit/>
          </a:bodyPr>
          <a:lstStyle/>
          <a:p>
            <a:pPr>
              <a:spcAft>
                <a:spcPts val="1000"/>
              </a:spcAft>
            </a:pPr>
            <a:r>
              <a:rPr sz="4400" b="1" i="0">
                <a:solidFill>
                  <a:srgbClr val="111827"/>
                </a:solidFill>
                <a:latin typeface="Segoe UI"/>
              </a:rPr>
              <a:t>Only the principal your server decided may call it, on the object it decided they may touch, at the moment they asked.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Take this home</a:t>
            </a:r>
          </a:p>
        </p:txBody>
      </p:sp>
      <p:sp>
        <p:nvSpPr>
          <p:cNvPr id="3" name="TextBox 2"/>
          <p:cNvSpPr txBox="1"/>
          <p:nvPr/>
        </p:nvSpPr>
        <p:spPr>
          <a:xfrm>
            <a:off x="548640" y="1463040"/>
            <a:ext cx="11094415" cy="4261104"/>
          </a:xfrm>
          <a:prstGeom prst="rect">
            <a:avLst/>
          </a:prstGeom>
          <a:noFill/>
        </p:spPr>
        <p:txBody>
          <a:bodyPr wrap="square" lIns="0" rIns="0" tIns="0" bIns="0">
            <a:spAutoFit/>
          </a:bodyPr>
          <a:lstStyle/>
          <a:p>
            <a:pPr marL="420624" indent="-420624">
              <a:spcAft>
                <a:spcPts val="500"/>
              </a:spcAft>
            </a:pPr>
            <a:r>
              <a:rPr sz="2400" b="1" i="0">
                <a:solidFill>
                  <a:srgbClr val="1E40AF"/>
                </a:solidFill>
                <a:latin typeface="Segoe UI"/>
              </a:rPr>
              <a:t>1.  </a:t>
            </a:r>
            <a:r>
              <a:rPr sz="2400" b="1" i="0">
                <a:solidFill>
                  <a:srgbClr val="111827"/>
                </a:solidFill>
                <a:latin typeface="Segoe UI"/>
              </a:rPr>
              <a:t>Bind every token to one resource.</a:t>
            </a:r>
          </a:p>
          <a:p>
            <a:pPr marL="420624" indent="-420624">
              <a:spcAft>
                <a:spcPts val="500"/>
              </a:spcAft>
            </a:pPr>
            <a:r>
              <a:rPr sz="2400" b="1" i="0">
                <a:solidFill>
                  <a:srgbClr val="1E40AF"/>
                </a:solidFill>
                <a:latin typeface="Segoe UI"/>
              </a:rPr>
              <a:t>2.  </a:t>
            </a:r>
            <a:r>
              <a:rPr sz="2400" b="1" i="0">
                <a:solidFill>
                  <a:srgbClr val="111827"/>
                </a:solidFill>
                <a:latin typeface="Segoe UI"/>
              </a:rPr>
              <a:t>A scope is a verb, not an object. refund.write never named ORD-1003.</a:t>
            </a:r>
          </a:p>
          <a:p>
            <a:pPr marL="420624" indent="-420624">
              <a:spcAft>
                <a:spcPts val="500"/>
              </a:spcAft>
            </a:pPr>
            <a:r>
              <a:rPr sz="2400" b="1" i="0">
                <a:solidFill>
                  <a:srgbClr val="1E40AF"/>
                </a:solidFill>
                <a:latin typeface="Segoe UI"/>
              </a:rPr>
              <a:t>3.  </a:t>
            </a:r>
            <a:r>
              <a:rPr sz="2400" b="1" i="0">
                <a:solidFill>
                  <a:srgbClr val="111827"/>
                </a:solidFill>
                <a:latin typeface="Segoe UI"/>
              </a:rPr>
              <a:t>A confirmation dialog is not server authorization. Assume Approve was clicked, then decide anyway.</a:t>
            </a:r>
          </a:p>
          <a:p>
            <a:pPr marL="420624" indent="-420624">
              <a:spcAft>
                <a:spcPts val="500"/>
              </a:spcAft>
            </a:pPr>
            <a:r>
              <a:rPr sz="2400" b="1" i="0">
                <a:solidFill>
                  <a:srgbClr val="374151"/>
                </a:solidFill>
                <a:latin typeface="Segoe UI"/>
              </a:rPr>
              <a:t>4.  </a:t>
            </a:r>
            <a:r>
              <a:rPr sz="2400" b="0" i="0">
                <a:solidFill>
                  <a:srgbClr val="374151"/>
                </a:solidFill>
                <a:latin typeface="Segoe UI"/>
              </a:rPr>
              <a:t>Never forward an incoming token downstream. Exchange it — and if the exchange fails, fail.</a:t>
            </a:r>
          </a:p>
          <a:p>
            <a:pPr marL="420624" indent="-420624">
              <a:spcAft>
                <a:spcPts val="500"/>
              </a:spcAft>
            </a:pPr>
            <a:r>
              <a:rPr sz="2400" b="1" i="0">
                <a:solidFill>
                  <a:srgbClr val="374151"/>
                </a:solidFill>
                <a:latin typeface="Segoe UI"/>
              </a:rPr>
              <a:t>5.  </a:t>
            </a:r>
            <a:r>
              <a:rPr sz="2400" b="0" i="0">
                <a:solidFill>
                  <a:srgbClr val="374151"/>
                </a:solidFill>
                <a:latin typeface="Segoe UI"/>
              </a:rPr>
              <a:t>Annotations are hints from a process you don’t control.</a:t>
            </a:r>
          </a:p>
          <a:p>
            <a:pPr marL="420624" indent="-420624">
              <a:spcAft>
                <a:spcPts val="500"/>
              </a:spcAft>
            </a:pPr>
            <a:r>
              <a:rPr sz="2400" b="1" i="0">
                <a:solidFill>
                  <a:srgbClr val="374151"/>
                </a:solidFill>
                <a:latin typeface="Segoe UI"/>
              </a:rPr>
              <a:t>6.  </a:t>
            </a:r>
            <a:r>
              <a:rPr sz="2400" b="0" i="0">
                <a:solidFill>
                  <a:srgbClr val="374151"/>
                </a:solidFill>
                <a:latin typeface="Segoe UI"/>
              </a:rPr>
              <a:t>Model output is advice about untrusted input. Record it; never obey it.</a:t>
            </a:r>
          </a:p>
          <a:p>
            <a:pPr marL="420624" indent="-420624">
              <a:spcAft>
                <a:spcPts val="500"/>
              </a:spcAft>
            </a:pPr>
            <a:r>
              <a:rPr sz="2400" b="1" i="0">
                <a:solidFill>
                  <a:srgbClr val="374151"/>
                </a:solidFill>
                <a:latin typeface="Segoe UI"/>
              </a:rPr>
              <a:t>7.  </a:t>
            </a:r>
            <a:r>
              <a:rPr sz="2400" b="0" i="0">
                <a:solidFill>
                  <a:srgbClr val="374151"/>
                </a:solidFill>
                <a:latin typeface="Segoe UI"/>
              </a:rPr>
              <a:t>Audit at the decision point, including denials. Deny by default.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Who can call this MCP tool?</a:t>
            </a:r>
          </a:p>
        </p:txBody>
      </p:sp>
      <p:graphicFrame>
        <p:nvGraphicFramePr>
          <p:cNvPr id="3" name="Table 2"/>
          <p:cNvGraphicFramePr>
            <a:graphicFrameLocks noGrp="1"/>
          </p:cNvGraphicFramePr>
          <p:nvPr/>
        </p:nvGraphicFramePr>
        <p:xfrm>
          <a:off x="548640" y="1371600"/>
          <a:ext cx="11094415" cy="2852928"/>
        </p:xfrm>
        <a:graphic>
          <a:graphicData uri="http://schemas.openxmlformats.org/drawingml/2006/table">
            <a:tbl>
              <a:tblPr>
                <a:tableStyleId>{5C22544A-7EE6-4342-B048-85BDC9FD1C3A}</a:tableStyleId>
              </a:tblPr>
              <a:tblGrid>
                <a:gridCol w="2377440"/>
                <a:gridCol w="1645920"/>
                <a:gridCol w="3657600"/>
                <a:gridCol w="3413455"/>
              </a:tblGrid>
              <a:tr h="475488">
                <a:tc>
                  <a:txBody>
                    <a:bodyPr wrap="square"/>
                    <a:lstStyle/>
                    <a:p>
                      <a:pPr>
                        <a:spcAft>
                          <a:spcPts val="0"/>
                        </a:spcAft>
                      </a:pPr>
                      <a:r>
                        <a:rPr sz="2400" b="1" i="0">
                          <a:solidFill>
                            <a:srgbClr val="111827"/>
                          </a:solidFill>
                          <a:latin typeface="Segoe UI"/>
                        </a:rPr>
                        <a:t>Layer</a:t>
                      </a:r>
                    </a:p>
                  </a:txBody>
                  <a:tcPr marL="91440" marR="91440" marT="27432" marB="27432" anchor="ctr">
                    <a:solidFill>
                      <a:srgbClr val="F3F4F6"/>
                    </a:solidFill>
                  </a:tcPr>
                </a:tc>
                <a:tc>
                  <a:txBody>
                    <a:bodyPr wrap="square"/>
                    <a:lstStyle/>
                    <a:p>
                      <a:pPr>
                        <a:spcAft>
                          <a:spcPts val="0"/>
                        </a:spcAft>
                      </a:pPr>
                      <a:r>
                        <a:rPr sz="2400" b="1" i="0">
                          <a:solidFill>
                            <a:srgbClr val="111827"/>
                          </a:solidFill>
                          <a:latin typeface="Segoe UI"/>
                        </a:rPr>
                        <a:t>Owner</a:t>
                      </a:r>
                    </a:p>
                  </a:txBody>
                  <a:tcPr marL="91440" marR="91440" marT="27432" marB="27432" anchor="ctr">
                    <a:solidFill>
                      <a:srgbClr val="F3F4F6"/>
                    </a:solidFill>
                  </a:tcPr>
                </a:tc>
                <a:tc>
                  <a:txBody>
                    <a:bodyPr wrap="square"/>
                    <a:lstStyle/>
                    <a:p>
                      <a:pPr>
                        <a:spcAft>
                          <a:spcPts val="0"/>
                        </a:spcAft>
                      </a:pPr>
                      <a:r>
                        <a:rPr sz="2400" b="1" i="0">
                          <a:solidFill>
                            <a:srgbClr val="111827"/>
                          </a:solidFill>
                          <a:latin typeface="Segoe UI"/>
                        </a:rPr>
                        <a:t>What it denies</a:t>
                      </a:r>
                    </a:p>
                  </a:txBody>
                  <a:tcPr marL="91440" marR="91440" marT="27432" marB="27432" anchor="ctr">
                    <a:solidFill>
                      <a:srgbClr val="F3F4F6"/>
                    </a:solidFill>
                  </a:tcPr>
                </a:tc>
                <a:tc>
                  <a:txBody>
                    <a:bodyPr wrap="square"/>
                    <a:lstStyle/>
                    <a:p>
                      <a:pPr>
                        <a:spcAft>
                          <a:spcPts val="0"/>
                        </a:spcAft>
                      </a:pPr>
                      <a:r>
                        <a:rPr sz="2400" b="1" i="0">
                          <a:solidFill>
                            <a:srgbClr val="111827"/>
                          </a:solidFill>
                          <a:latin typeface="Segoe UI"/>
                        </a:rPr>
                        <a:t>Cannot answer</a:t>
                      </a:r>
                    </a:p>
                  </a:txBody>
                  <a:tcPr marL="91440" marR="91440" marT="27432" marB="27432" anchor="ctr">
                    <a:solidFill>
                      <a:srgbClr val="F3F4F6"/>
                    </a:solidFill>
                  </a:tcPr>
                </a:tc>
              </a:tr>
              <a:tr h="475488">
                <a:tc>
                  <a:txBody>
                    <a:bodyPr wrap="square"/>
                    <a:lstStyle/>
                    <a:p>
                      <a:pPr>
                        <a:spcAft>
                          <a:spcPts val="0"/>
                        </a:spcAft>
                      </a:pPr>
                      <a:r>
                        <a:rPr sz="2400" b="0" i="0">
                          <a:solidFill>
                            <a:srgbClr val="111827"/>
                          </a:solidFill>
                          <a:latin typeface="Segoe UI"/>
                        </a:rPr>
                        <a:t>MCP client</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Not you</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A declined call</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Whether they may</a:t>
                      </a:r>
                    </a:p>
                  </a:txBody>
                  <a:tcPr marL="91440" marR="91440" marT="27432" marB="27432" anchor="ctr">
                    <a:solidFill>
                      <a:srgbClr val="FFFFFF"/>
                    </a:solidFill>
                  </a:tcPr>
                </a:tc>
              </a:tr>
              <a:tr h="475488">
                <a:tc>
                  <a:txBody>
                    <a:bodyPr wrap="square"/>
                    <a:lstStyle/>
                    <a:p>
                      <a:pPr>
                        <a:spcAft>
                          <a:spcPts val="0"/>
                        </a:spcAft>
                      </a:pPr>
                      <a:r>
                        <a:rPr sz="2400" b="0" i="0">
                          <a:solidFill>
                            <a:srgbClr val="111827"/>
                          </a:solidFill>
                          <a:latin typeface="Segoe UI"/>
                        </a:rPr>
                        <a:t>Auth server</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Your IdP</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PKCE downgrade</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About this order</a:t>
                      </a:r>
                    </a:p>
                  </a:txBody>
                  <a:tcPr marL="91440" marR="91440" marT="27432" marB="27432" anchor="ctr">
                    <a:solidFill>
                      <a:srgbClr val="FFFFFF"/>
                    </a:solidFill>
                  </a:tcPr>
                </a:tc>
              </a:tr>
              <a:tr h="475488">
                <a:tc>
                  <a:txBody>
                    <a:bodyPr wrap="square"/>
                    <a:lstStyle/>
                    <a:p>
                      <a:pPr>
                        <a:spcAft>
                          <a:spcPts val="0"/>
                        </a:spcAft>
                      </a:pPr>
                      <a:r>
                        <a:rPr sz="2400" b="1" i="0">
                          <a:solidFill>
                            <a:srgbClr val="1E40AF"/>
                          </a:solidFill>
                          <a:latin typeface="Segoe UI"/>
                        </a:rPr>
                        <a:t>MCP server</a:t>
                      </a:r>
                    </a:p>
                  </a:txBody>
                  <a:tcPr marL="91440" marR="91440" marT="27432" marB="27432" anchor="ctr">
                    <a:solidFill>
                      <a:srgbClr val="EFF6FF"/>
                    </a:solidFill>
                  </a:tcPr>
                </a:tc>
                <a:tc>
                  <a:txBody>
                    <a:bodyPr wrap="square"/>
                    <a:lstStyle/>
                    <a:p>
                      <a:pPr>
                        <a:spcAft>
                          <a:spcPts val="0"/>
                        </a:spcAft>
                      </a:pPr>
                      <a:r>
                        <a:rPr sz="2400" b="1" i="0">
                          <a:solidFill>
                            <a:srgbClr val="1E40AF"/>
                          </a:solidFill>
                          <a:latin typeface="Segoe UI"/>
                        </a:rPr>
                        <a:t>You</a:t>
                      </a:r>
                    </a:p>
                  </a:txBody>
                  <a:tcPr marL="91440" marR="91440" marT="27432" marB="27432" anchor="ctr">
                    <a:solidFill>
                      <a:srgbClr val="EFF6FF"/>
                    </a:solidFill>
                  </a:tcPr>
                </a:tc>
                <a:tc>
                  <a:txBody>
                    <a:bodyPr wrap="square"/>
                    <a:lstStyle/>
                    <a:p>
                      <a:pPr>
                        <a:spcAft>
                          <a:spcPts val="0"/>
                        </a:spcAft>
                      </a:pPr>
                      <a:r>
                        <a:rPr sz="2400" b="1" i="0">
                          <a:solidFill>
                            <a:srgbClr val="1E40AF"/>
                          </a:solidFill>
                          <a:latin typeface="Segoe UI"/>
                        </a:rPr>
                        <a:t>Audience and object</a:t>
                      </a:r>
                    </a:p>
                  </a:txBody>
                  <a:tcPr marL="91440" marR="91440" marT="27432" marB="27432" anchor="ctr">
                    <a:solidFill>
                      <a:srgbClr val="EFF6FF"/>
                    </a:solidFill>
                  </a:tcPr>
                </a:tc>
                <a:tc>
                  <a:txBody>
                    <a:bodyPr wrap="square"/>
                    <a:lstStyle/>
                    <a:p>
                      <a:pPr>
                        <a:spcAft>
                          <a:spcPts val="0"/>
                        </a:spcAft>
                      </a:pPr>
                      <a:r>
                        <a:rPr sz="2400" b="1" i="0">
                          <a:solidFill>
                            <a:srgbClr val="1E40AF"/>
                          </a:solidFill>
                          <a:latin typeface="Segoe UI"/>
                        </a:rPr>
                        <a:t>Human intent</a:t>
                      </a:r>
                    </a:p>
                  </a:txBody>
                  <a:tcPr marL="91440" marR="91440" marT="27432" marB="27432" anchor="ctr">
                    <a:solidFill>
                      <a:srgbClr val="EFF6FF"/>
                    </a:solidFill>
                  </a:tcPr>
                </a:tc>
              </a:tr>
              <a:tr h="475488">
                <a:tc>
                  <a:txBody>
                    <a:bodyPr wrap="square"/>
                    <a:lstStyle/>
                    <a:p>
                      <a:pPr>
                        <a:spcAft>
                          <a:spcPts val="0"/>
                        </a:spcAft>
                      </a:pPr>
                      <a:r>
                        <a:rPr sz="2400" b="0" i="0">
                          <a:solidFill>
                            <a:srgbClr val="111827"/>
                          </a:solidFill>
                          <a:latin typeface="Segoe UI"/>
                        </a:rPr>
                        <a:t>Upstream API</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You</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A forwarded token</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Who typed it</a:t>
                      </a:r>
                    </a:p>
                  </a:txBody>
                  <a:tcPr marL="91440" marR="91440" marT="27432" marB="27432" anchor="ctr">
                    <a:solidFill>
                      <a:srgbClr val="FFFFFF"/>
                    </a:solidFill>
                  </a:tcPr>
                </a:tc>
              </a:tr>
              <a:tr h="475488">
                <a:tc>
                  <a:txBody>
                    <a:bodyPr wrap="square"/>
                    <a:lstStyle/>
                    <a:p>
                      <a:pPr>
                        <a:spcAft>
                          <a:spcPts val="0"/>
                        </a:spcAft>
                      </a:pPr>
                      <a:r>
                        <a:rPr sz="2400" b="0" i="0">
                          <a:solidFill>
                            <a:srgbClr val="111827"/>
                          </a:solidFill>
                          <a:latin typeface="Segoe UI"/>
                        </a:rPr>
                        <a:t>Foundry model</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You</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Nothing. It advises.</a:t>
                      </a:r>
                    </a:p>
                  </a:txBody>
                  <a:tcPr marL="91440" marR="91440" marT="27432" marB="27432" anchor="ctr">
                    <a:solidFill>
                      <a:srgbClr val="FFFFFF"/>
                    </a:solidFill>
                  </a:tcPr>
                </a:tc>
                <a:tc>
                  <a:txBody>
                    <a:bodyPr wrap="square"/>
                    <a:lstStyle/>
                    <a:p>
                      <a:pPr>
                        <a:spcAft>
                          <a:spcPts val="0"/>
                        </a:spcAft>
                      </a:pPr>
                      <a:r>
                        <a:rPr sz="2400" b="0" i="0">
                          <a:solidFill>
                            <a:srgbClr val="111827"/>
                          </a:solidFill>
                          <a:latin typeface="Segoe UI"/>
                        </a:rPr>
                        <a:t>Everything</a:t>
                      </a:r>
                    </a:p>
                  </a:txBody>
                  <a:tcPr marL="91440" marR="91440" marT="27432" marB="27432" anchor="ctr">
                    <a:solidFill>
                      <a:srgbClr val="FFFFFF"/>
                    </a:solidFill>
                  </a:tcPr>
                </a:tc>
              </a:tr>
            </a:tbl>
          </a:graphicData>
        </a:graphic>
      </p:graphicFrame>
      <p:pic>
        <p:nvPicPr>
          <p:cNvPr id="4" name="Picture 3" descr="image.png"/>
          <p:cNvPicPr>
            <a:picLocks noChangeAspect="1"/>
          </p:cNvPicPr>
          <p:nvPr/>
        </p:nvPicPr>
        <p:blipFill>
          <a:blip r:embed="rId2"/>
          <a:stretch>
            <a:fillRect/>
          </a:stretch>
        </p:blipFill>
        <p:spPr>
          <a:xfrm>
            <a:off x="548640" y="4498848"/>
            <a:ext cx="1051560" cy="1051560"/>
          </a:xfrm>
          <a:prstGeom prst="rect">
            <a:avLst/>
          </a:prstGeom>
        </p:spPr>
      </p:pic>
      <p:sp>
        <p:nvSpPr>
          <p:cNvPr id="5" name="TextBox 4"/>
          <p:cNvSpPr txBox="1"/>
          <p:nvPr/>
        </p:nvSpPr>
        <p:spPr>
          <a:xfrm>
            <a:off x="1783080" y="4645152"/>
            <a:ext cx="9784080" cy="932688"/>
          </a:xfrm>
          <a:prstGeom prst="rect">
            <a:avLst/>
          </a:prstGeom>
          <a:noFill/>
        </p:spPr>
        <p:txBody>
          <a:bodyPr wrap="square" lIns="0" rIns="0" tIns="0" bIns="0">
            <a:spAutoFit/>
          </a:bodyPr>
          <a:lstStyle/>
          <a:p>
            <a:pPr>
              <a:spcAft>
                <a:spcPts val="400"/>
              </a:spcAft>
            </a:pPr>
            <a:r>
              <a:rPr sz="2400" b="1" i="0">
                <a:solidFill>
                  <a:srgbClr val="111827"/>
                </a:solidFill>
                <a:latin typeface="Consolas"/>
              </a:rPr>
              <a:t>https://github.com/&lt;owner&gt;/&lt;repo&gt;</a:t>
            </a:r>
          </a:p>
          <a:p>
            <a:pPr>
              <a:spcAft>
                <a:spcPts val="1000"/>
              </a:spcAft>
            </a:pPr>
            <a:r>
              <a:rPr sz="2400" b="0" i="0">
                <a:solidFill>
                  <a:srgbClr val="374151"/>
                </a:solidFill>
                <a:latin typeface="Segoe UI"/>
              </a:rPr>
              <a:t>14 scenarios  ·  207 tests  ·  one command: scripts\check.ps1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What I did not prove</a:t>
            </a:r>
          </a:p>
        </p:txBody>
      </p:sp>
      <p:sp>
        <p:nvSpPr>
          <p:cNvPr id="3" name="TextBox 2"/>
          <p:cNvSpPr txBox="1"/>
          <p:nvPr/>
        </p:nvSpPr>
        <p:spPr>
          <a:xfrm>
            <a:off x="548640" y="1536192"/>
            <a:ext cx="11094415" cy="3931920"/>
          </a:xfrm>
          <a:prstGeom prst="rect">
            <a:avLst/>
          </a:prstGeom>
          <a:noFill/>
        </p:spPr>
        <p:txBody>
          <a:bodyPr wrap="square" lIns="0" rIns="0" tIns="0" bIns="0">
            <a:spAutoFit/>
          </a:bodyPr>
          <a:lstStyle/>
          <a:p>
            <a:pPr>
              <a:spcAft>
                <a:spcPts val="1500"/>
              </a:spcAft>
            </a:pPr>
            <a:r>
              <a:rPr sz="2400" b="0" i="0">
                <a:solidFill>
                  <a:srgbClr val="111827"/>
                </a:solidFill>
                <a:latin typeface="Segoe UI"/>
              </a:rPr>
              <a:t>Microsoft Entra ID is implemented, not executed. No tenant was authorized for this build.</a:t>
            </a:r>
          </a:p>
          <a:p>
            <a:pPr>
              <a:spcAft>
                <a:spcPts val="1500"/>
              </a:spcAft>
            </a:pPr>
            <a:r>
              <a:rPr sz="2400" b="0" i="0">
                <a:solidFill>
                  <a:srgbClr val="111827"/>
                </a:solidFill>
                <a:latin typeface="Segoe UI"/>
              </a:rPr>
              <a:t>The audit log is a JSONL file on a disk. Not immutable, not tamper-proof.</a:t>
            </a:r>
          </a:p>
          <a:p>
            <a:pPr>
              <a:spcAft>
                <a:spcPts val="1500"/>
              </a:spcAft>
            </a:pPr>
            <a:r>
              <a:rPr sz="2400" b="0" i="0">
                <a:solidFill>
                  <a:srgbClr val="111827"/>
                </a:solidFill>
                <a:latin typeface="Segoe UI"/>
              </a:rPr>
              <a:t>Resource binding stops reuse at a different resource. It does not stop replay at its own.</a:t>
            </a:r>
          </a:p>
          <a:p>
            <a:pPr>
              <a:spcAft>
                <a:spcPts val="1500"/>
              </a:spcAft>
            </a:pPr>
            <a:r>
              <a:rPr sz="2400" b="0" i="0">
                <a:solidFill>
                  <a:srgbClr val="111827"/>
                </a:solidFill>
                <a:latin typeface="Segoe UI"/>
              </a:rPr>
              <a:t>The injection demo is a harness replay, not a fresh model attack.</a:t>
            </a:r>
          </a:p>
          <a:p>
            <a:pPr>
              <a:spcAft>
                <a:spcPts val="0"/>
              </a:spcAft>
            </a:pPr>
            <a:r>
              <a:rPr sz="2400" b="0" i="0">
                <a:solidFill>
                  <a:srgbClr val="111827"/>
                </a:solidFill>
                <a:latin typeface="Segoe UI"/>
              </a:rPr>
              <a:t>In cloud mode the platform content filter refused the prompt — not the model, and not this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4000" b="1" i="0">
                <a:solidFill>
                  <a:srgbClr val="111827"/>
                </a:solidFill>
                <a:latin typeface="Segoe UI"/>
              </a:rPr>
              <a:t>Try it yourself</a:t>
            </a:r>
          </a:p>
        </p:txBody>
      </p:sp>
      <p:sp>
        <p:nvSpPr>
          <p:cNvPr id="3" name="TextBox 2"/>
          <p:cNvSpPr txBox="1"/>
          <p:nvPr/>
        </p:nvSpPr>
        <p:spPr>
          <a:xfrm>
            <a:off x="548640" y="1554480"/>
            <a:ext cx="11094415" cy="3840480"/>
          </a:xfrm>
          <a:prstGeom prst="rect">
            <a:avLst/>
          </a:prstGeom>
          <a:noFill/>
        </p:spPr>
        <p:txBody>
          <a:bodyPr wrap="square" lIns="0" rIns="0" tIns="0" bIns="0">
            <a:spAutoFit/>
          </a:bodyPr>
          <a:lstStyle/>
          <a:p>
            <a:pPr>
              <a:spcAft>
                <a:spcPts val="2000"/>
              </a:spcAft>
            </a:pPr>
            <a:r>
              <a:rPr sz="2800" b="1" i="0">
                <a:solidFill>
                  <a:srgbClr val="111827"/>
                </a:solidFill>
                <a:latin typeface="Consolas"/>
              </a:rPr>
              <a:t>https://github.com/&lt;owner&gt;/&lt;repo&gt;</a:t>
            </a:r>
          </a:p>
          <a:p>
            <a:pPr>
              <a:spcAft>
                <a:spcPts val="1200"/>
              </a:spcAft>
            </a:pPr>
            <a:r>
              <a:rPr sz="2400" b="1" i="0">
                <a:solidFill>
                  <a:srgbClr val="111827"/>
                </a:solidFill>
                <a:latin typeface="Consolas"/>
              </a:rPr>
              <a:t>scripts\bootstrap.ps1</a:t>
            </a:r>
            <a:r>
              <a:rPr sz="2400" b="0" i="0">
                <a:solidFill>
                  <a:srgbClr val="374151"/>
                </a:solidFill>
                <a:latin typeface="Segoe UI"/>
              </a:rPr>
              <a:t>  — set up, no Azure subscription needed</a:t>
            </a:r>
          </a:p>
          <a:p>
            <a:pPr>
              <a:spcAft>
                <a:spcPts val="1200"/>
              </a:spcAft>
            </a:pPr>
            <a:r>
              <a:rPr sz="2400" b="1" i="0">
                <a:solidFill>
                  <a:srgbClr val="111827"/>
                </a:solidFill>
                <a:latin typeface="Consolas"/>
              </a:rPr>
              <a:t>scripts\check.ps1</a:t>
            </a:r>
            <a:r>
              <a:rPr sz="2400" b="0" i="0">
                <a:solidFill>
                  <a:srgbClr val="374151"/>
                </a:solidFill>
                <a:latin typeface="Segoe UI"/>
              </a:rPr>
              <a:t>  — 207 tests + 14 scenarios → READY</a:t>
            </a:r>
          </a:p>
          <a:p>
            <a:pPr>
              <a:spcAft>
                <a:spcPts val="1200"/>
              </a:spcAft>
            </a:pPr>
            <a:r>
              <a:rPr sz="2400" b="1" i="0">
                <a:solidFill>
                  <a:srgbClr val="111827"/>
                </a:solidFill>
                <a:latin typeface="Consolas"/>
              </a:rPr>
              <a:t>scripts\scenario.ps1 -All</a:t>
            </a:r>
            <a:r>
              <a:rPr sz="2400" b="0" i="0">
                <a:solidFill>
                  <a:srgbClr val="374151"/>
                </a:solidFill>
                <a:latin typeface="Segoe UI"/>
              </a:rPr>
              <a:t>  — every claim in this talk</a:t>
            </a:r>
          </a:p>
          <a:p>
            <a:pPr>
              <a:spcAft>
                <a:spcPts val="2000"/>
              </a:spcAft>
            </a:pPr>
            <a:r>
              <a:rPr sz="2400" b="1" i="0">
                <a:solidFill>
                  <a:srgbClr val="111827"/>
                </a:solidFill>
                <a:latin typeface="Consolas"/>
              </a:rPr>
              <a:t>scripts\audit.ps1 -Last 5</a:t>
            </a:r>
            <a:r>
              <a:rPr sz="2400" b="0" i="0">
                <a:solidFill>
                  <a:srgbClr val="374151"/>
                </a:solidFill>
                <a:latin typeface="Segoe UI"/>
              </a:rPr>
              <a:t>  — the evidence trail</a:t>
            </a:r>
          </a:p>
          <a:p>
            <a:pPr>
              <a:spcAft>
                <a:spcPts val="0"/>
              </a:spcAft>
            </a:pPr>
            <a:r>
              <a:rPr sz="2400" b="0" i="0">
                <a:solidFill>
                  <a:srgbClr val="374151"/>
                </a:solidFill>
                <a:latin typeface="Segoe UI"/>
              </a:rPr>
              <a:t>Bash twins for every script. docs/CONTROL-MAP.md is the one-page takeaway.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no-token  +  discovery</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The client is told where to authenticate, and the token it gets back is bound to one resource.</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401 with WWW-Authenticate naming Protected Resource Metadata</a:t>
            </a:r>
          </a:p>
          <a:p>
            <a:pPr marL="292608" indent="-292608">
              <a:spcAft>
                <a:spcPts val="1200"/>
              </a:spcAft>
            </a:pPr>
            <a:r>
              <a:rPr sz="2400" b="1" i="0">
                <a:solidFill>
                  <a:srgbClr val="1E40AF"/>
                </a:solidFill>
                <a:latin typeface="Segoe UI"/>
              </a:rPr>
              <a:t>•  </a:t>
            </a:r>
            <a:r>
              <a:rPr sz="2400" b="0" i="0">
                <a:solidFill>
                  <a:srgbClr val="111827"/>
                </a:solidFill>
                <a:latin typeface="Segoe UI"/>
              </a:rPr>
              <a:t>PRM → authorization server metadata</a:t>
            </a:r>
          </a:p>
          <a:p>
            <a:pPr marL="292608" indent="-292608">
              <a:spcAft>
                <a:spcPts val="1200"/>
              </a:spcAft>
            </a:pPr>
            <a:r>
              <a:rPr sz="2400" b="1" i="0">
                <a:solidFill>
                  <a:srgbClr val="1E40AF"/>
                </a:solidFill>
                <a:latin typeface="Segoe UI"/>
              </a:rPr>
              <a:t>•  </a:t>
            </a:r>
            <a:r>
              <a:rPr sz="2400" b="0" i="0">
                <a:solidFill>
                  <a:srgbClr val="111827"/>
                </a:solidFill>
                <a:latin typeface="Segoe UI"/>
              </a:rPr>
              <a:t>PKCE S256, and RFC 8707 resource=api://refund-mcp-a</a:t>
            </a:r>
          </a:p>
          <a:p>
            <a:pPr marL="292608" indent="-292608">
              <a:spcAft>
                <a:spcPts val="1200"/>
              </a:spcAft>
            </a:pPr>
            <a:r>
              <a:rPr sz="2400" b="1" i="0">
                <a:solidFill>
                  <a:srgbClr val="1E40AF"/>
                </a:solidFill>
                <a:latin typeface="Segoe UI"/>
              </a:rPr>
              <a:t>•  </a:t>
            </a:r>
            <a:r>
              <a:rPr sz="2400" b="0" i="0">
                <a:solidFill>
                  <a:srgbClr val="111827"/>
                </a:solidFill>
                <a:latin typeface="Segoe UI"/>
              </a:rPr>
              <a:t>Token returns with exactly one audience</a:t>
            </a:r>
          </a:p>
          <a:p>
            <a:pPr marL="292608" indent="-292608">
              <a:spcAft>
                <a:spcPts val="1200"/>
              </a:spcAft>
            </a:pPr>
            <a:r>
              <a:rPr sz="2400" b="1" i="0">
                <a:solidFill>
                  <a:srgbClr val="1E40AF"/>
                </a:solidFill>
                <a:latin typeface="Segoe UI"/>
              </a:rPr>
              <a:t>•  </a:t>
            </a:r>
            <a:r>
              <a:rPr sz="2400" b="0" i="0">
                <a:solidFill>
                  <a:srgbClr val="111827"/>
                </a:solidFill>
                <a:latin typeface="Segoe UI"/>
              </a:rPr>
              <a:t>Field names and redacted values only — never a token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allowed-refund</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An authorized refund succeeds exactly once; a retry does not double-spend.</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Refund RFND-… applied; ledger CHANGED, total 0 → 4000</a:t>
            </a:r>
          </a:p>
          <a:p>
            <a:pPr marL="292608" indent="-292608">
              <a:spcAft>
                <a:spcPts val="1200"/>
              </a:spcAft>
            </a:pPr>
            <a:r>
              <a:rPr sz="2400" b="1" i="0">
                <a:solidFill>
                  <a:srgbClr val="1E40AF"/>
                </a:solidFill>
                <a:latin typeface="Segoe UI"/>
              </a:rPr>
              <a:t>•  </a:t>
            </a:r>
            <a:r>
              <a:rPr sz="2400" b="0" i="0">
                <a:solidFill>
                  <a:srgbClr val="111827"/>
                </a:solidFill>
                <a:latin typeface="Segoe UI"/>
              </a:rPr>
              <a:t>Retry with the same idempotency key: replayed=True, total 4000</a:t>
            </a:r>
          </a:p>
          <a:p>
            <a:pPr marL="292608" indent="-292608">
              <a:spcAft>
                <a:spcPts val="1200"/>
              </a:spcAft>
            </a:pPr>
            <a:r>
              <a:rPr sz="2400" b="1" i="0">
                <a:solidFill>
                  <a:srgbClr val="1E40AF"/>
                </a:solidFill>
                <a:latin typeface="Segoe UI"/>
              </a:rPr>
              <a:t>•  </a:t>
            </a:r>
            <a:r>
              <a:rPr sz="2400" b="0" i="0">
                <a:solidFill>
                  <a:srgbClr val="111827"/>
                </a:solidFill>
                <a:latin typeface="Segoe UI"/>
              </a:rPr>
              <a:t>upstream_audience: api://refund-upstream</a:t>
            </a:r>
          </a:p>
          <a:p>
            <a:pPr marL="292608" indent="-292608">
              <a:spcAft>
                <a:spcPts val="1200"/>
              </a:spcAft>
            </a:pPr>
            <a:r>
              <a:rPr sz="2400" b="1" i="0">
                <a:solidFill>
                  <a:srgbClr val="1E40AF"/>
                </a:solidFill>
                <a:latin typeface="Segoe UI"/>
              </a:rPr>
              <a:t>•  </a:t>
            </a:r>
            <a:r>
              <a:rPr sz="2400" b="0" i="0">
                <a:solidFill>
                  <a:srgbClr val="111827"/>
                </a:solidFill>
                <a:latin typeface="Segoe UI"/>
              </a:rPr>
              <a:t>delegated_identity_preserved: True</a:t>
            </a:r>
          </a:p>
          <a:p>
            <a:pPr marL="292608" indent="-292608">
              <a:spcAft>
                <a:spcPts val="1200"/>
              </a:spcAft>
            </a:pPr>
            <a:r>
              <a:rPr sz="2400" b="1" i="0">
                <a:solidFill>
                  <a:srgbClr val="1E40AF"/>
                </a:solidFill>
                <a:latin typeface="Segoe UI"/>
              </a:rPr>
              <a:t>•  </a:t>
            </a:r>
            <a:r>
              <a:rPr sz="2400" b="0" i="0">
                <a:solidFill>
                  <a:srgbClr val="111827"/>
                </a:solidFill>
                <a:latin typeface="Segoe UI"/>
              </a:rPr>
              <a:t>No token was forwarded; an on-behalf-of exchange was performed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scope-denial</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Sam can read but has no write scope. The tool was visible; the call was refused.</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POLICY_MISSING_SCOPE, rule R003</a:t>
            </a:r>
          </a:p>
          <a:p>
            <a:pPr marL="292608" indent="-292608">
              <a:spcAft>
                <a:spcPts val="1200"/>
              </a:spcAft>
            </a:pPr>
            <a:r>
              <a:rPr sz="2400" b="1" i="0">
                <a:solidFill>
                  <a:srgbClr val="1E40AF"/>
                </a:solidFill>
                <a:latin typeface="Segoe UI"/>
              </a:rPr>
              <a:t>•  </a:t>
            </a:r>
            <a:r>
              <a:rPr sz="2400" b="0" i="0">
                <a:solidFill>
                  <a:srgbClr val="111827"/>
                </a:solidFill>
                <a:latin typeface="Segoe UI"/>
              </a:rPr>
              <a:t>Policy version refund-policy/2026-10-06.1</a:t>
            </a:r>
          </a:p>
          <a:p>
            <a:pPr marL="292608" indent="-292608">
              <a:spcAft>
                <a:spcPts val="1200"/>
              </a:spcAft>
            </a:pPr>
            <a:r>
              <a:rPr sz="2400" b="1" i="0">
                <a:solidFill>
                  <a:srgbClr val="1E40AF"/>
                </a:solidFill>
                <a:latin typeface="Segoe UI"/>
              </a:rPr>
              <a:t>•  </a:t>
            </a:r>
            <a:r>
              <a:rPr sz="2400" b="0" i="0">
                <a:solidFill>
                  <a:srgbClr val="111827"/>
                </a:solidFill>
                <a:latin typeface="Segoe UI"/>
              </a:rPr>
              <a:t>Ledger: UNCHANGED</a:t>
            </a:r>
          </a:p>
          <a:p>
            <a:pPr marL="292608" indent="-292608">
              <a:spcAft>
                <a:spcPts val="1200"/>
              </a:spcAft>
            </a:pPr>
            <a:r>
              <a:rPr sz="2400" b="1" i="0">
                <a:solidFill>
                  <a:srgbClr val="1E40AF"/>
                </a:solidFill>
                <a:latin typeface="Segoe UI"/>
              </a:rPr>
              <a:t>•  </a:t>
            </a:r>
            <a:r>
              <a:rPr sz="2400" b="0" i="0">
                <a:solidFill>
                  <a:srgbClr val="111827"/>
                </a:solidFill>
                <a:latin typeface="Segoe UI"/>
              </a:rPr>
              <a:t>Denied at tools/call, not at tools/list</a:t>
            </a:r>
          </a:p>
          <a:p>
            <a:pPr marL="292608" indent="-292608">
              <a:spcAft>
                <a:spcPts val="1200"/>
              </a:spcAft>
            </a:pPr>
            <a:r>
              <a:rPr sz="2400" b="1" i="0">
                <a:solidFill>
                  <a:srgbClr val="1E40AF"/>
                </a:solidFill>
                <a:latin typeface="Segoe UI"/>
              </a:rPr>
              <a:t>•  </a:t>
            </a:r>
            <a:r>
              <a:rPr sz="2400" b="0" i="0">
                <a:solidFill>
                  <a:srgbClr val="111827"/>
                </a:solidFill>
                <a:latin typeface="Segoe UI"/>
              </a:rPr>
              <a:t>Hiding a tool is a UI preference, not access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wrong-audience</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A completely valid token for Resource B is rejected at Resource A.</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AUTH_WRONG_AUDIENCE, rejected before any tool executes</a:t>
            </a:r>
          </a:p>
          <a:p>
            <a:pPr marL="292608" indent="-292608">
              <a:spcAft>
                <a:spcPts val="1200"/>
              </a:spcAft>
            </a:pPr>
            <a:r>
              <a:rPr sz="2400" b="1" i="0">
                <a:solidFill>
                  <a:srgbClr val="1E40AF"/>
                </a:solidFill>
                <a:latin typeface="Segoe UI"/>
              </a:rPr>
              <a:t>•  </a:t>
            </a:r>
            <a:r>
              <a:rPr sz="2400" b="0" i="0">
                <a:solidFill>
                  <a:srgbClr val="111827"/>
                </a:solidFill>
                <a:latin typeface="Segoe UI"/>
              </a:rPr>
              <a:t>The control: the same token at Resource B succeeds</a:t>
            </a:r>
          </a:p>
          <a:p>
            <a:pPr marL="292608" indent="-292608">
              <a:spcAft>
                <a:spcPts val="1200"/>
              </a:spcAft>
            </a:pPr>
            <a:r>
              <a:rPr sz="2400" b="1" i="0">
                <a:solidFill>
                  <a:srgbClr val="1E40AF"/>
                </a:solidFill>
                <a:latin typeface="Segoe UI"/>
              </a:rPr>
              <a:t>•  </a:t>
            </a:r>
            <a:r>
              <a:rPr sz="2400" b="0" i="0">
                <a:solidFill>
                  <a:srgbClr val="111827"/>
                </a:solidFill>
                <a:latin typeface="Segoe UI"/>
              </a:rPr>
              <a:t>Ledger: UNCHANGED</a:t>
            </a:r>
          </a:p>
          <a:p>
            <a:pPr marL="292608" indent="-292608">
              <a:spcAft>
                <a:spcPts val="1200"/>
              </a:spcAft>
            </a:pPr>
            <a:r>
              <a:rPr sz="2400" b="1" i="0">
                <a:solidFill>
                  <a:srgbClr val="1E40AF"/>
                </a:solidFill>
                <a:latin typeface="Segoe UI"/>
              </a:rPr>
              <a:t>•  </a:t>
            </a:r>
            <a:r>
              <a:rPr sz="2400" b="0" i="0">
                <a:solidFill>
                  <a:srgbClr val="111827"/>
                </a:solidFill>
                <a:latin typeface="Segoe UI"/>
              </a:rPr>
              <a:t>A signature check is not an audience check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ownership-denial</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The confused deputy: right scope, someone else’s order.</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POLICY_ORDER_NOT_ASSIGNED, rule R006</a:t>
            </a:r>
          </a:p>
          <a:p>
            <a:pPr marL="292608" indent="-292608">
              <a:spcAft>
                <a:spcPts val="1200"/>
              </a:spcAft>
            </a:pPr>
            <a:r>
              <a:rPr sz="2400" b="1" i="0">
                <a:solidFill>
                  <a:srgbClr val="1E40AF"/>
                </a:solidFill>
                <a:latin typeface="Segoe UI"/>
              </a:rPr>
              <a:t>•  </a:t>
            </a:r>
            <a:r>
              <a:rPr sz="2400" b="0" i="0">
                <a:solidFill>
                  <a:srgbClr val="111827"/>
                </a:solidFill>
                <a:latin typeface="Segoe UI"/>
              </a:rPr>
              <a:t>Riley holds refund.write and a valid token for this resource</a:t>
            </a:r>
          </a:p>
          <a:p>
            <a:pPr marL="292608" indent="-292608">
              <a:spcAft>
                <a:spcPts val="1200"/>
              </a:spcAft>
            </a:pPr>
            <a:r>
              <a:rPr sz="2400" b="1" i="0">
                <a:solidFill>
                  <a:srgbClr val="1E40AF"/>
                </a:solidFill>
                <a:latin typeface="Segoe UI"/>
              </a:rPr>
              <a:t>•  </a:t>
            </a:r>
            <a:r>
              <a:rPr sz="2400" b="0" i="0">
                <a:solidFill>
                  <a:srgbClr val="111827"/>
                </a:solidFill>
                <a:latin typeface="Segoe UI"/>
              </a:rPr>
              <a:t>ORD-1003 is on another employee’s book</a:t>
            </a:r>
          </a:p>
          <a:p>
            <a:pPr marL="292608" indent="-292608">
              <a:spcAft>
                <a:spcPts val="1200"/>
              </a:spcAft>
            </a:pPr>
            <a:r>
              <a:rPr sz="2400" b="1" i="0">
                <a:solidFill>
                  <a:srgbClr val="1E40AF"/>
                </a:solidFill>
                <a:latin typeface="Segoe UI"/>
              </a:rPr>
              <a:t>•  </a:t>
            </a:r>
            <a:r>
              <a:rPr sz="2400" b="0" i="0">
                <a:solidFill>
                  <a:srgbClr val="111827"/>
                </a:solidFill>
                <a:latin typeface="Segoe UI"/>
              </a:rPr>
              <a:t>Ledger: UNCHANGED</a:t>
            </a:r>
          </a:p>
          <a:p>
            <a:pPr marL="292608" indent="-292608">
              <a:spcAft>
                <a:spcPts val="1200"/>
              </a:spcAft>
            </a:pPr>
            <a:r>
              <a:rPr sz="2400" b="1" i="0">
                <a:solidFill>
                  <a:srgbClr val="1E40AF"/>
                </a:solidFill>
                <a:latin typeface="Segoe UI"/>
              </a:rPr>
              <a:t>•  </a:t>
            </a:r>
            <a:r>
              <a:rPr sz="2400" b="0" i="0">
                <a:solidFill>
                  <a:srgbClr val="111827"/>
                </a:solidFill>
                <a:latin typeface="Segoe UI"/>
              </a:rPr>
              <a:t>The scope said the verb. It never said the object.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prompt-injection</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A hostile note in order data; the policy decision does not move.</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ORD-1004 carries an attacker-written customer note</a:t>
            </a:r>
          </a:p>
          <a:p>
            <a:pPr marL="292608" indent="-292608">
              <a:spcAft>
                <a:spcPts val="1200"/>
              </a:spcAft>
            </a:pPr>
            <a:r>
              <a:rPr sz="2400" b="1" i="0">
                <a:solidFill>
                  <a:srgbClr val="1E40AF"/>
                </a:solidFill>
                <a:latin typeface="Segoe UI"/>
              </a:rPr>
              <a:t>•  </a:t>
            </a:r>
            <a:r>
              <a:rPr sz="2400" b="0" i="0">
                <a:solidFill>
                  <a:srgbClr val="111827"/>
                </a:solidFill>
                <a:latin typeface="Segoe UI"/>
              </a:rPr>
              <a:t>The model’s answer is recorded, never obeyed</a:t>
            </a:r>
          </a:p>
          <a:p>
            <a:pPr marL="292608" indent="-292608">
              <a:spcAft>
                <a:spcPts val="1200"/>
              </a:spcAft>
            </a:pPr>
            <a:r>
              <a:rPr sz="2400" b="1" i="0">
                <a:solidFill>
                  <a:srgbClr val="1E40AF"/>
                </a:solidFill>
                <a:latin typeface="Segoe UI"/>
              </a:rPr>
              <a:t>•  </a:t>
            </a:r>
            <a:r>
              <a:rPr sz="2400" b="0" i="0">
                <a:solidFill>
                  <a:srgbClr val="111827"/>
                </a:solidFill>
                <a:latin typeface="Segoe UI"/>
              </a:rPr>
              <a:t>The harness then forces the refund call through</a:t>
            </a:r>
          </a:p>
          <a:p>
            <a:pPr marL="292608" indent="-292608">
              <a:spcAft>
                <a:spcPts val="1200"/>
              </a:spcAft>
            </a:pPr>
            <a:r>
              <a:rPr sz="2400" b="1" i="0">
                <a:solidFill>
                  <a:srgbClr val="1E40AF"/>
                </a:solidFill>
                <a:latin typeface="Segoe UI"/>
              </a:rPr>
              <a:t>•  </a:t>
            </a:r>
            <a:r>
              <a:rPr sz="2400" b="0" i="0">
                <a:solidFill>
                  <a:srgbClr val="111827"/>
                </a:solidFill>
                <a:latin typeface="Segoe UI"/>
              </a:rPr>
              <a:t>Denied. Ledger: UNCHANGED</a:t>
            </a:r>
          </a:p>
          <a:p>
            <a:pPr marL="292608" indent="-292608">
              <a:spcAft>
                <a:spcPts val="1200"/>
              </a:spcAft>
            </a:pPr>
            <a:r>
              <a:rPr sz="2400" b="1" i="0">
                <a:solidFill>
                  <a:srgbClr val="1E40AF"/>
                </a:solidFill>
                <a:latin typeface="Segoe UI"/>
              </a:rPr>
              <a:t>•  </a:t>
            </a:r>
            <a:r>
              <a:rPr sz="2400" b="0" i="0">
                <a:solidFill>
                  <a:srgbClr val="111827"/>
                </a:solidFill>
                <a:latin typeface="Segoe UI"/>
              </a:rPr>
              <a:t>Harness replay, not a fresh model attack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deck-title"/>
          <p:cNvSpPr txBox="1"/>
          <p:nvPr/>
        </p:nvSpPr>
        <p:spPr>
          <a:xfrm>
            <a:off x="548640" y="457200"/>
            <a:ext cx="11094415" cy="914400"/>
          </a:xfrm>
          <a:prstGeom prst="rect">
            <a:avLst/>
          </a:prstGeom>
          <a:noFill/>
        </p:spPr>
        <p:txBody>
          <a:bodyPr wrap="square" lIns="0" rIns="0" tIns="0" bIns="0">
            <a:spAutoFit/>
          </a:bodyPr>
          <a:lstStyle/>
          <a:p>
            <a:r>
              <a:rPr sz="3400" b="1" i="0">
                <a:solidFill>
                  <a:srgbClr val="111827"/>
                </a:solidFill>
                <a:latin typeface="Segoe UI"/>
              </a:rPr>
              <a:t>Fallback · audit record</a:t>
            </a:r>
          </a:p>
        </p:txBody>
      </p:sp>
      <p:sp>
        <p:nvSpPr>
          <p:cNvPr id="3" name="TextBox 2"/>
          <p:cNvSpPr txBox="1"/>
          <p:nvPr/>
        </p:nvSpPr>
        <p:spPr>
          <a:xfrm>
            <a:off x="548640" y="1353312"/>
            <a:ext cx="11094415" cy="877824"/>
          </a:xfrm>
          <a:prstGeom prst="rect">
            <a:avLst/>
          </a:prstGeom>
          <a:noFill/>
        </p:spPr>
        <p:txBody>
          <a:bodyPr wrap="square" lIns="0" rIns="0" tIns="0" bIns="0">
            <a:spAutoFit/>
          </a:bodyPr>
          <a:lstStyle/>
          <a:p>
            <a:pPr>
              <a:spcAft>
                <a:spcPts val="1000"/>
              </a:spcAft>
            </a:pPr>
            <a:r>
              <a:rPr sz="2400" b="1" i="0">
                <a:solidFill>
                  <a:srgbClr val="111827"/>
                </a:solidFill>
                <a:latin typeface="Segoe UI"/>
              </a:rPr>
              <a:t>One allowed call and one denied call, followed all the way through.</a:t>
            </a:r>
          </a:p>
        </p:txBody>
      </p:sp>
      <p:sp>
        <p:nvSpPr>
          <p:cNvPr id="4" name="TextBox 3"/>
          <p:cNvSpPr txBox="1"/>
          <p:nvPr/>
        </p:nvSpPr>
        <p:spPr>
          <a:xfrm>
            <a:off x="548640" y="2340864"/>
            <a:ext cx="11094415" cy="3200400"/>
          </a:xfrm>
          <a:prstGeom prst="rect">
            <a:avLst/>
          </a:prstGeom>
          <a:noFill/>
        </p:spPr>
        <p:txBody>
          <a:bodyPr wrap="square" lIns="0" rIns="0" tIns="0" bIns="0">
            <a:spAutoFit/>
          </a:bodyPr>
          <a:lstStyle/>
          <a:p>
            <a:pPr marL="292608" indent="-292608">
              <a:spcAft>
                <a:spcPts val="1200"/>
              </a:spcAft>
            </a:pPr>
            <a:r>
              <a:rPr sz="2400" b="1" i="0">
                <a:solidFill>
                  <a:srgbClr val="1E40AF"/>
                </a:solidFill>
                <a:latin typeface="Segoe UI"/>
              </a:rPr>
              <a:t>•  </a:t>
            </a:r>
            <a:r>
              <a:rPr sz="2400" b="0" i="0">
                <a:solidFill>
                  <a:srgbClr val="111827"/>
                </a:solidFill>
                <a:latin typeface="Segoe UI"/>
              </a:rPr>
              <a:t>trace ID → MCP request ID → pseudonymized user</a:t>
            </a:r>
          </a:p>
          <a:p>
            <a:pPr marL="292608" indent="-292608">
              <a:spcAft>
                <a:spcPts val="1200"/>
              </a:spcAft>
            </a:pPr>
            <a:r>
              <a:rPr sz="2400" b="1" i="0">
                <a:solidFill>
                  <a:srgbClr val="1E40AF"/>
                </a:solidFill>
                <a:latin typeface="Segoe UI"/>
              </a:rPr>
              <a:t>•  </a:t>
            </a:r>
            <a:r>
              <a:rPr sz="2400" b="0" i="0">
                <a:solidFill>
                  <a:srgbClr val="111827"/>
                </a:solidFill>
                <a:latin typeface="Segoe UI"/>
              </a:rPr>
              <a:t>tenant → client → resource audience → tool</a:t>
            </a:r>
          </a:p>
          <a:p>
            <a:pPr marL="292608" indent="-292608">
              <a:spcAft>
                <a:spcPts val="1200"/>
              </a:spcAft>
            </a:pPr>
            <a:r>
              <a:rPr sz="2400" b="1" i="0">
                <a:solidFill>
                  <a:srgbClr val="1E40AF"/>
                </a:solidFill>
                <a:latin typeface="Segoe UI"/>
              </a:rPr>
              <a:t>•  </a:t>
            </a:r>
            <a:r>
              <a:rPr sz="2400" b="0" i="0">
                <a:solidFill>
                  <a:srgbClr val="111827"/>
                </a:solidFill>
                <a:latin typeface="Segoe UI"/>
              </a:rPr>
              <a:t>policy version → rule → decision → ledger change</a:t>
            </a:r>
          </a:p>
          <a:p>
            <a:pPr marL="292608" indent="-292608">
              <a:spcAft>
                <a:spcPts val="1200"/>
              </a:spcAft>
            </a:pPr>
            <a:r>
              <a:rPr sz="2400" b="1" i="0">
                <a:solidFill>
                  <a:srgbClr val="1E40AF"/>
                </a:solidFill>
                <a:latin typeface="Segoe UI"/>
              </a:rPr>
              <a:t>•  </a:t>
            </a:r>
            <a:r>
              <a:rPr sz="2400" b="0" i="0">
                <a:solidFill>
                  <a:srgbClr val="111827"/>
                </a:solidFill>
                <a:latin typeface="Segoe UI"/>
              </a:rPr>
              <a:t>Arguments allowlisted: _omitted_keys includes idempotency_key</a:t>
            </a:r>
          </a:p>
          <a:p>
            <a:pPr marL="292608" indent="-292608">
              <a:spcAft>
                <a:spcPts val="1200"/>
              </a:spcAft>
            </a:pPr>
            <a:r>
              <a:rPr sz="2400" b="1" i="0">
                <a:solidFill>
                  <a:srgbClr val="1E40AF"/>
                </a:solidFill>
                <a:latin typeface="Segoe UI"/>
              </a:rPr>
              <a:t>•  </a:t>
            </a:r>
            <a:r>
              <a:rPr sz="2400" b="0" i="0">
                <a:solidFill>
                  <a:srgbClr val="111827"/>
                </a:solidFill>
                <a:latin typeface="Segoe UI"/>
              </a:rPr>
              <a:t>Rejected token recorded as identity: untrusted, no user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Can Call This MCP Tool?</dc:title>
  <dc:subject>OAuth, Resource Binding, and Runtime Policy</dc:subject>
  <dc:creator>Brian Benz</dc:creator>
  <cp:keywords/>
  <dc:description>MCP Dev Summit Toronto, 2026-10-06. Generated by slides/build_deck.py.</dc:description>
  <cp:lastModifiedBy>build_deck.py</cp:lastModifiedBy>
  <cp:revision>1</cp:revision>
  <dcterms:created xsi:type="dcterms:W3CDTF">2026-10-06T15:40:00Z</dcterms:created>
  <dcterms:modified xsi:type="dcterms:W3CDTF">2026-10-06T15:40:00Z</dcterms:modified>
  <cp:category/>
</cp:coreProperties>
</file>